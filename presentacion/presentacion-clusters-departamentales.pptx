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Estructura Productiva y</a:t>
            </a:r>
          </a:p>
          <a:p>
            <a:r>
              <a:t>Cicatriz COVID-19</a:t>
            </a:r>
          </a:p>
          <a:p>
            <a:r>
              <a:t>Tipología Composicional (CLR/ILR) y</a:t>
            </a:r>
          </a:p>
          <a:p>
            <a:r>
              <a:t>Econometría de Panel en los 24 Departamentos</a:t>
            </a:r>
          </a:p>
          <a:p>
            <a:r>
              <a:t>del Perú</a:t>
            </a:r>
          </a:p>
          <a:p>
            <a:r>
              <a:t>Círculo de Ciencia de Datos y Econometría</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enclaves aún no recuperan el nivel de 2019</a:t>
            </a:r>
          </a:p>
          <a:p>
            <a:r>
              <a:t>97.6</a:t>
            </a:r>
          </a:p>
          <a:p>
            <a:r>
              <a:t>VAB de enclaves en</a:t>
            </a:r>
          </a:p>
          <a:p>
            <a:r>
              <a:t>2023</a:t>
            </a:r>
          </a:p>
          <a:p>
            <a:r>
              <a:t>Base 2019 = 100</a:t>
            </a:r>
          </a:p>
          <a:p>
            <a:r>
              <a:t>106.6</a:t>
            </a:r>
          </a:p>
          <a:p>
            <a:r>
              <a:t>Índice minero</a:t>
            </a:r>
          </a:p>
          <a:p>
            <a:r>
              <a:t>diversificado en 2023</a:t>
            </a:r>
          </a:p>
          <a:p>
            <a:r>
              <a:t>-10.92</a:t>
            </a:r>
          </a:p>
          <a:p>
            <a:r>
              <a:t>Diferencial relativo en</a:t>
            </a:r>
          </a:p>
          <a:p>
            <a:r>
              <a:t>2021–2023 (M5)</a:t>
            </a:r>
          </a:p>
          <a:p>
            <a:r>
              <a:t>La recuperación difiere entre perfiles productivos.</a:t>
            </a:r>
          </a:p>
          <a:p>
            <a:r>
              <a:t>Primero identificamos la estructura previa; después distinguimos el rebote anual del nivel</a:t>
            </a:r>
          </a:p>
          <a:p>
            <a:r>
              <a:t>recuperado.</a:t>
            </a:r>
          </a:p>
          <a:p>
            <a:r>
              <a:t>Fuente: INEI, base local; promedios departamentales sin ponderar y modelo M5. Asociación descriptiva, sin identificación causal.</a:t>
            </a:r>
          </a:p>
          <a:p>
            <a:r>
              <a:t>CCDE | Estructura productiva y recuperación regional</a:t>
            </a:r>
          </a:p>
          <a:p>
            <a:r>
              <a:t>2</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misma pregunta requiere tres ventanas</a:t>
            </a:r>
          </a:p>
          <a:p>
            <a:r>
              <a:t>2015–2019</a:t>
            </a:r>
          </a:p>
          <a:p>
            <a:r>
              <a:t>Estructura previa</a:t>
            </a:r>
          </a:p>
          <a:p>
            <a:r>
              <a:t>24 departamentos</a:t>
            </a:r>
          </a:p>
          <a:p>
            <a:r>
              <a:t>11 actividades armoniza-</a:t>
            </a:r>
          </a:p>
          <a:p>
            <a:r>
              <a:t>das</a:t>
            </a:r>
          </a:p>
          <a:p>
            <a:r>
              <a:t>Promedio de participacio-</a:t>
            </a:r>
          </a:p>
          <a:p>
            <a:r>
              <a:t>nes</a:t>
            </a:r>
          </a:p>
          <a:p>
            <a:r>
              <a:t>2008–2023</a:t>
            </a:r>
          </a:p>
          <a:p>
            <a:r>
              <a:t>Crecimiento anual</a:t>
            </a:r>
          </a:p>
          <a:p>
            <a:r>
              <a:t>384 observaciones</a:t>
            </a:r>
          </a:p>
          <a:p>
            <a:r>
              <a:t>Panel balanceado</a:t>
            </a:r>
          </a:p>
          <a:p>
            <a:r>
              <a:t>Modelos M1–M4</a:t>
            </a:r>
          </a:p>
          <a:p>
            <a:r>
              <a:t>2017–2023</a:t>
            </a:r>
          </a:p>
          <a:p>
            <a:r>
              <a:t>Nivel recuperado</a:t>
            </a:r>
          </a:p>
          <a:p>
            <a:r>
              <a:t>168 observaciones</a:t>
            </a:r>
          </a:p>
          <a:p>
            <a:r>
              <a:t>Base 2019 = 100</a:t>
            </a:r>
          </a:p>
          <a:p>
            <a:r>
              <a:t>Modelos M5–M6</a:t>
            </a:r>
          </a:p>
          <a:p>
            <a:r>
              <a:t>La base local contiene 428 filas de 2008–2025. Se excluyen los años finales incompletos para</a:t>
            </a:r>
          </a:p>
          <a:p>
            <a:r>
              <a:t>mantener las muestras balanceadas.</a:t>
            </a:r>
          </a:p>
          <a:p>
            <a:r>
              <a:t>Fuente: Libros INEI, cuadros 1 y 2. La magnitud observada es valor agregado bruto (VAB) real; «PIB» era el nombre heredado de la variable.</a:t>
            </a:r>
          </a:p>
          <a:p>
            <a:r>
              <a:t>CCDE | Estructura productiva y recuperación regional</a:t>
            </a:r>
          </a:p>
          <a:p>
            <a:r>
              <a:t>3</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perfiles resumen la estructura previa</a:t>
            </a:r>
          </a:p>
          <a:p>
            <a:r>
              <a:t>4</a:t>
            </a:r>
          </a:p>
          <a:p>
            <a:r>
              <a:t>3</a:t>
            </a:r>
          </a:p>
          <a:p>
            <a:r>
              <a:t>2</a:t>
            </a:r>
          </a:p>
          <a:p>
            <a:r>
              <a:t>1</a:t>
            </a:r>
          </a:p>
          <a:p>
            <a:r>
              <a:t>0</a:t>
            </a:r>
          </a:p>
          <a:p>
            <a:r>
              <a:t>1</a:t>
            </a:r>
          </a:p>
          <a:p>
            <a:r>
              <a:t>2</a:t>
            </a:r>
          </a:p>
          <a:p>
            <a:r>
              <a:t>3</a:t>
            </a:r>
          </a:p>
          <a:p>
            <a:r>
              <a:t>PC1 · 51.7% de la varianza CLR</a:t>
            </a:r>
          </a:p>
          <a:p>
            <a:r>
              <a:t>3</a:t>
            </a:r>
          </a:p>
          <a:p>
            <a:r>
              <a:t>2</a:t>
            </a:r>
          </a:p>
          <a:p>
            <a:r>
              <a:t>1</a:t>
            </a:r>
          </a:p>
          <a:p>
            <a:r>
              <a:t>0</a:t>
            </a:r>
          </a:p>
          <a:p>
            <a:r>
              <a:t>1</a:t>
            </a:r>
          </a:p>
          <a:p>
            <a:r>
              <a:t>2</a:t>
            </a:r>
          </a:p>
          <a:p>
            <a:r>
              <a:t>PC2 · 20.0% de la varianza CLR</a:t>
            </a:r>
          </a:p>
          <a:p>
            <a:r>
              <a:t>Lambayeque</a:t>
            </a:r>
          </a:p>
          <a:p>
            <a:r>
              <a:t>Lima</a:t>
            </a:r>
          </a:p>
          <a:p>
            <a:r>
              <a:t>San Martín</a:t>
            </a:r>
          </a:p>
          <a:p>
            <a:r>
              <a:t>Amazonas</a:t>
            </a:r>
          </a:p>
          <a:p>
            <a:r>
              <a:t>Ayacucho</a:t>
            </a:r>
          </a:p>
          <a:p>
            <a:r>
              <a:t>Cajamarca</a:t>
            </a:r>
          </a:p>
          <a:p>
            <a:r>
              <a:t>Huánuco</a:t>
            </a:r>
          </a:p>
          <a:p>
            <a:r>
              <a:t>Ica</a:t>
            </a:r>
          </a:p>
          <a:p>
            <a:r>
              <a:t>La Libertad</a:t>
            </a:r>
          </a:p>
          <a:p>
            <a:r>
              <a:t>Loreto</a:t>
            </a:r>
          </a:p>
          <a:p>
            <a:r>
              <a:t>Piura</a:t>
            </a:r>
          </a:p>
          <a:p>
            <a:r>
              <a:t>Puno</a:t>
            </a:r>
          </a:p>
          <a:p>
            <a:r>
              <a:t>Tumbes</a:t>
            </a:r>
          </a:p>
          <a:p>
            <a:r>
              <a:t>Ucayali</a:t>
            </a:r>
          </a:p>
          <a:p>
            <a:r>
              <a:t>Arequipa</a:t>
            </a:r>
          </a:p>
          <a:p>
            <a:r>
              <a:t>Cusco</a:t>
            </a:r>
          </a:p>
          <a:p>
            <a:r>
              <a:t>Junín</a:t>
            </a:r>
          </a:p>
          <a:p>
            <a:r>
              <a:t>Madre de Dios</a:t>
            </a:r>
          </a:p>
          <a:p>
            <a:r>
              <a:t>Moquegua</a:t>
            </a:r>
          </a:p>
          <a:p>
            <a:r>
              <a:t>Tacna</a:t>
            </a:r>
          </a:p>
          <a:p>
            <a:r>
              <a:t>Áncash</a:t>
            </a:r>
          </a:p>
          <a:p>
            <a:r>
              <a:t>Apurímac</a:t>
            </a:r>
          </a:p>
          <a:p>
            <a:r>
              <a:t>Huancavelica</a:t>
            </a:r>
          </a:p>
          <a:p>
            <a:r>
              <a:t>Pasco</a:t>
            </a:r>
          </a:p>
          <a:p>
            <a:r>
              <a:t>Diversificado / agro (n=3)</a:t>
            </a:r>
          </a:p>
          <a:p>
            <a:r>
              <a:t>Servicios / manufactura (n=11)</a:t>
            </a:r>
          </a:p>
          <a:p>
            <a:r>
              <a:t>Minero diversificado (n=7)</a:t>
            </a:r>
          </a:p>
          <a:p>
            <a:r>
              <a:t>Minero enclave (n=3)</a:t>
            </a:r>
          </a:p>
          <a:p>
            <a:r>
              <a:t>Los dos primeros componentes conservan el 71.68 % de la varianza CLR. El mapa muestra posicio-</a:t>
            </a:r>
          </a:p>
          <a:p>
            <a:r>
              <a:t>nes departamentales; las cargas sectoriales se documentan en el artículo.</a:t>
            </a:r>
          </a:p>
          <a:p>
            <a:r>
              <a:t>Fuente: INEI. CLR y PCA del promedio 2015–2019; Ward K=4.</a:t>
            </a:r>
          </a:p>
          <a:p>
            <a:r>
              <a:t>CCDE | Estructura productiva y recuperación regional</a:t>
            </a:r>
          </a:p>
          <a:p>
            <a:r>
              <a:t>4</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extracción distingue dos perfiles mineros</a:t>
            </a:r>
          </a:p>
          <a:p>
            <a:r>
              <a:t>0</a:t>
            </a:r>
          </a:p>
          <a:p>
            <a:r>
              <a:t>20</a:t>
            </a:r>
          </a:p>
          <a:p>
            <a:r>
              <a:t>40</a:t>
            </a:r>
          </a:p>
          <a:p>
            <a:r>
              <a:t>60</a:t>
            </a:r>
          </a:p>
          <a:p>
            <a:r>
              <a:t>80</a:t>
            </a:r>
          </a:p>
          <a:p>
            <a:r>
              <a:t>100</a:t>
            </a:r>
          </a:p>
          <a:p>
            <a:r>
              <a:t>Participación media en el VAB departamental (%)</a:t>
            </a:r>
          </a:p>
          <a:p>
            <a:r>
              <a:t>Minero enclave  (n=3)</a:t>
            </a:r>
          </a:p>
          <a:p>
            <a:r>
              <a:t>Minero diversificado  (n=7)</a:t>
            </a:r>
          </a:p>
          <a:p>
            <a:r>
              <a:t>Servicios / manufactura  (n=11)</a:t>
            </a:r>
          </a:p>
          <a:p>
            <a:r>
              <a:t>Diversificado / agro  (n=3)</a:t>
            </a:r>
          </a:p>
          <a:p>
            <a:r>
              <a:t>41.9%</a:t>
            </a:r>
          </a:p>
          <a:p>
            <a:r>
              <a:t>37.4%</a:t>
            </a:r>
          </a:p>
          <a:p>
            <a:r>
              <a:t>12.2%</a:t>
            </a:r>
          </a:p>
          <a:p>
            <a:r>
              <a:t>12.2%</a:t>
            </a:r>
          </a:p>
          <a:p>
            <a:r>
              <a:t>12.7%</a:t>
            </a:r>
          </a:p>
          <a:p>
            <a:r>
              <a:t>13.9%</a:t>
            </a:r>
          </a:p>
          <a:p>
            <a:r>
              <a:t>12.3%</a:t>
            </a:r>
          </a:p>
          <a:p>
            <a:r>
              <a:t>48.2%</a:t>
            </a:r>
          </a:p>
          <a:p>
            <a:r>
              <a:t>45.1%</a:t>
            </a:r>
          </a:p>
          <a:p>
            <a:r>
              <a:t>63.3%</a:t>
            </a:r>
          </a:p>
          <a:p>
            <a:r>
              <a:t>74.1%</a:t>
            </a:r>
          </a:p>
          <a:p>
            <a:r>
              <a:t>Extracción minera e hidrocarburos</a:t>
            </a:r>
          </a:p>
          <a:p>
            <a:r>
              <a:t>Manufactura</a:t>
            </a:r>
          </a:p>
          <a:p>
            <a:r>
              <a:t>Agropecuario</a:t>
            </a:r>
          </a:p>
          <a:p>
            <a:r>
              <a:t>Otras actividades</a:t>
            </a:r>
          </a:p>
          <a:p>
            <a:r>
              <a:t>Los grupos mineros reúnen 10 departamentos; los otros perfiles reúnen 14. Esta agregación econó-</a:t>
            </a:r>
          </a:p>
          <a:p>
            <a:r>
              <a:t>mica es distinta del corte Ward K=2.</a:t>
            </a:r>
          </a:p>
          <a:p>
            <a:r>
              <a:t>Fuente: INEI. Medias sin ponderar entre departamentos; las barras suman 100 %.</a:t>
            </a:r>
          </a:p>
          <a:p>
            <a:r>
              <a:t>CCDE | Estructura productiva y recuperación regional</a:t>
            </a:r>
          </a:p>
          <a:p>
            <a:r>
              <a:t>5</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K=4 es una tipología útil, con criterios en tensión</a:t>
            </a:r>
          </a:p>
          <a:p>
            <a:r>
              <a:t>2</a:t>
            </a:r>
          </a:p>
          <a:p>
            <a:r>
              <a:t>3</a:t>
            </a:r>
          </a:p>
          <a:p>
            <a:r>
              <a:t>4</a:t>
            </a:r>
          </a:p>
          <a:p>
            <a:r>
              <a:t>5</a:t>
            </a:r>
          </a:p>
          <a:p>
            <a:r>
              <a:t>Número de grupos (K)</a:t>
            </a:r>
          </a:p>
          <a:p>
            <a:r>
              <a:t>0.0</a:t>
            </a:r>
          </a:p>
          <a:p>
            <a:r>
              <a:t>0.1</a:t>
            </a:r>
          </a:p>
          <a:p>
            <a:r>
              <a:t>0.2</a:t>
            </a:r>
          </a:p>
          <a:p>
            <a:r>
              <a:t>0.3</a:t>
            </a:r>
          </a:p>
          <a:p>
            <a:r>
              <a:t>0.4</a:t>
            </a:r>
          </a:p>
          <a:p>
            <a:r>
              <a:t>0.5</a:t>
            </a:r>
          </a:p>
          <a:p>
            <a:r>
              <a:t>Silueta · mayor es mejor</a:t>
            </a:r>
          </a:p>
          <a:p>
            <a:r>
              <a:t>Separación entre grupos</a:t>
            </a:r>
          </a:p>
          <a:p>
            <a:r>
              <a:t>Ward</a:t>
            </a:r>
          </a:p>
          <a:p>
            <a:r>
              <a:t>KMeans</a:t>
            </a:r>
          </a:p>
          <a:p>
            <a:r>
              <a:t>PAM</a:t>
            </a:r>
          </a:p>
          <a:p>
            <a:r>
              <a:t>GMM</a:t>
            </a:r>
          </a:p>
          <a:p>
            <a:r>
              <a:t>1</a:t>
            </a:r>
          </a:p>
          <a:p>
            <a:r>
              <a:t>2</a:t>
            </a:r>
          </a:p>
          <a:p>
            <a:r>
              <a:t>3</a:t>
            </a:r>
          </a:p>
          <a:p>
            <a:r>
              <a:t>4</a:t>
            </a:r>
          </a:p>
          <a:p>
            <a:r>
              <a:t>5</a:t>
            </a:r>
          </a:p>
          <a:p>
            <a:r>
              <a:t>Número de grupos (K)</a:t>
            </a:r>
          </a:p>
          <a:p>
            <a:r>
              <a:t>0.1</a:t>
            </a:r>
          </a:p>
          <a:p>
            <a:r>
              <a:t>0.0</a:t>
            </a:r>
          </a:p>
          <a:p>
            <a:r>
              <a:t>0.1</a:t>
            </a:r>
          </a:p>
          <a:p>
            <a:r>
              <a:t>0.2</a:t>
            </a:r>
          </a:p>
          <a:p>
            <a:r>
              <a:t>0.3</a:t>
            </a:r>
          </a:p>
          <a:p>
            <a:r>
              <a:t>0.4</a:t>
            </a:r>
          </a:p>
          <a:p>
            <a:r>
              <a:t>0.5</a:t>
            </a:r>
          </a:p>
          <a:p>
            <a:r>
              <a:t>Gap ± 1 error estándar</a:t>
            </a:r>
          </a:p>
          <a:p>
            <a:r>
              <a:t>Gap y error de Monte Carlo</a:t>
            </a:r>
          </a:p>
          <a:p>
            <a:r>
              <a:t>2</a:t>
            </a:r>
          </a:p>
          <a:p>
            <a:r>
              <a:t>3</a:t>
            </a:r>
          </a:p>
          <a:p>
            <a:r>
              <a:t>4</a:t>
            </a:r>
          </a:p>
          <a:p>
            <a:r>
              <a:t>5</a:t>
            </a:r>
          </a:p>
          <a:p>
            <a:r>
              <a:t>Número de grupos (K)</a:t>
            </a:r>
          </a:p>
          <a:p>
            <a:r>
              <a:t>0.0</a:t>
            </a:r>
          </a:p>
          <a:p>
            <a:r>
              <a:t>0.2</a:t>
            </a:r>
          </a:p>
          <a:p>
            <a:r>
              <a:t>0.4</a:t>
            </a:r>
          </a:p>
          <a:p>
            <a:r>
              <a:t>0.6</a:t>
            </a:r>
          </a:p>
          <a:p>
            <a:r>
              <a:t>0.8</a:t>
            </a:r>
          </a:p>
          <a:p>
            <a:r>
              <a:t>1.0</a:t>
            </a:r>
          </a:p>
          <a:p>
            <a:r>
              <a:t>Jaccard medio · escala 0 1</a:t>
            </a:r>
          </a:p>
          <a:p>
            <a:r>
              <a:t>Estabilidad por submuestreo</a:t>
            </a:r>
          </a:p>
          <a:p>
            <a:r>
              <a:t>Ward</a:t>
            </a:r>
          </a:p>
          <a:p>
            <a:r>
              <a:t>K-Means</a:t>
            </a:r>
          </a:p>
          <a:p>
            <a:r>
              <a:t>K=2 lidera en silueta (0.498); K=4 alcanza Jaccard Ward de 85.0 %. La regla Gap de un error</a:t>
            </a:r>
          </a:p>
          <a:p>
            <a:r>
              <a:t>estándar selecciona K=1.</a:t>
            </a:r>
          </a:p>
          <a:p>
            <a:r>
              <a:t>Fuente: 48 configuraciones; Gap con 30 réplicas; submuestreo del 80 % sin reemplazo, 100 réplicas.</a:t>
            </a:r>
          </a:p>
          <a:p>
            <a:r>
              <a:t>CCDE | Estructura productiva y recuperación regional</a:t>
            </a:r>
          </a:p>
          <a:p>
            <a:r>
              <a:t>6</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episodio extremo influye en la volatilidad</a:t>
            </a:r>
          </a:p>
          <a:p>
            <a:r>
              <a:t>0</a:t>
            </a:r>
          </a:p>
          <a:p>
            <a:r>
              <a:t>50</a:t>
            </a:r>
          </a:p>
          <a:p>
            <a:r>
              <a:t>100</a:t>
            </a:r>
          </a:p>
          <a:p>
            <a:r>
              <a:t>150</a:t>
            </a:r>
          </a:p>
          <a:p>
            <a:r>
              <a:t>Crecimiento anual del VAB real (%)</a:t>
            </a:r>
          </a:p>
          <a:p>
            <a:r>
              <a:t>Diversificado / agro</a:t>
            </a:r>
          </a:p>
          <a:p>
            <a:r>
              <a:t>Servicios / manufactura</a:t>
            </a:r>
          </a:p>
          <a:p>
            <a:r>
              <a:t>Minero diversificado</a:t>
            </a:r>
          </a:p>
          <a:p>
            <a:r>
              <a:t>Minero enclave</a:t>
            </a:r>
          </a:p>
          <a:p>
            <a:r>
              <a:t>Apurímac 2016</a:t>
            </a:r>
          </a:p>
          <a:p>
            <a:r>
              <a:t>+141.2%</a:t>
            </a:r>
          </a:p>
          <a:p>
            <a:r>
              <a:t>Todas las observaciones · eje lineal</a:t>
            </a:r>
          </a:p>
          <a:p>
            <a:r>
              <a:t>0</a:t>
            </a:r>
          </a:p>
          <a:p>
            <a:r>
              <a:t>5</a:t>
            </a:r>
          </a:p>
          <a:p>
            <a:r>
              <a:t>10</a:t>
            </a:r>
          </a:p>
          <a:p>
            <a:r>
              <a:t>15</a:t>
            </a:r>
          </a:p>
          <a:p>
            <a:r>
              <a:t>20</a:t>
            </a:r>
          </a:p>
          <a:p>
            <a:r>
              <a:t>25</a:t>
            </a:r>
          </a:p>
          <a:p>
            <a:r>
              <a:t>Desviación estándar del crecimiento (pp)</a:t>
            </a:r>
          </a:p>
          <a:p>
            <a:r>
              <a:t>4.9</a:t>
            </a:r>
          </a:p>
          <a:p>
            <a:r>
              <a:t>4.9</a:t>
            </a:r>
          </a:p>
          <a:p>
            <a:r>
              <a:t>5.9</a:t>
            </a:r>
          </a:p>
          <a:p>
            <a:r>
              <a:t>5.9</a:t>
            </a:r>
          </a:p>
          <a:p>
            <a:r>
              <a:t>8.5</a:t>
            </a:r>
          </a:p>
          <a:p>
            <a:r>
              <a:t>8.5</a:t>
            </a:r>
          </a:p>
          <a:p>
            <a:r>
              <a:t>21.3</a:t>
            </a:r>
          </a:p>
          <a:p>
            <a:r>
              <a:t>7.0</a:t>
            </a:r>
          </a:p>
          <a:p>
            <a:r>
              <a:t>El extremo influye en la volatilidad</a:t>
            </a:r>
          </a:p>
          <a:p>
            <a:r>
              <a:t>Muestra completa</a:t>
            </a:r>
          </a:p>
          <a:p>
            <a:r>
              <a:t>Sin la observación excluida en M4</a:t>
            </a:r>
          </a:p>
          <a:p>
            <a:r>
              <a:t>La desviación estándar de enclave es 4.3 veces la del perfil diversificado/agro. Es una comparación</a:t>
            </a:r>
          </a:p>
          <a:p>
            <a:r>
              <a:t>descriptiva que incluye pandemia y rebote.</a:t>
            </a:r>
          </a:p>
          <a:p>
            <a:r>
              <a:t>Fuente: Panel 2008–2023, 384 observaciones. M4 excluye Apurímac 2016 como sensibilidad, sin borrar el dato original.</a:t>
            </a:r>
          </a:p>
          <a:p>
            <a:r>
              <a:t>CCDE | Estructura productiva y recuperación regional</a:t>
            </a:r>
          </a:p>
          <a:p>
            <a:r>
              <a:t>7</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rebote positivo puede dejar el nivel por debajo de 100</a:t>
            </a:r>
          </a:p>
          <a:p>
            <a:r>
              <a:t>Ejemplo aritmético</a:t>
            </a:r>
          </a:p>
          <a:p>
            <a:r>
              <a:t>100 × (1 −0,12) × (1 + 0,09) = 95,92</a:t>
            </a:r>
          </a:p>
          <a:p>
            <a:r>
              <a:t>Las tasas miden cambios</a:t>
            </a:r>
          </a:p>
          <a:p>
            <a:r>
              <a:t>Una caída de 12 % seguida de crecimiento</a:t>
            </a:r>
          </a:p>
          <a:p>
            <a:r>
              <a:t>de 9 % deja una pérdida acumulada de</a:t>
            </a:r>
          </a:p>
          <a:p>
            <a:r>
              <a:t>4.08 %.</a:t>
            </a:r>
          </a:p>
          <a:p>
            <a:r>
              <a:t>El índice mide el nivel</a:t>
            </a:r>
          </a:p>
          <a:p>
            <a:r>
              <a:t>M1–M4 estudian crecimiento anual.</a:t>
            </a:r>
          </a:p>
          <a:p>
            <a:r>
              <a:t>M5–M6 estudian el nivel relativo a 2019.</a:t>
            </a:r>
          </a:p>
          <a:p>
            <a:r>
              <a:t>Cada variable responde una pregunta</a:t>
            </a:r>
          </a:p>
          <a:p>
            <a:r>
              <a:t>distinta.</a:t>
            </a:r>
          </a:p>
          <a:p>
            <a:r>
              <a:t>Fuente: Ejemplo ilustrativo; los porcentajes de esta lámina no son estimaciones del panel.</a:t>
            </a:r>
          </a:p>
          <a:p>
            <a:r>
              <a:t>CCDE | Estructura productiva y recuperación regional</a:t>
            </a:r>
          </a:p>
          <a:p>
            <a:r>
              <a:t>8</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enclaves quedan bajo 100 durante la recuperación</a:t>
            </a:r>
          </a:p>
          <a:p>
            <a:r>
              <a:t>2017</a:t>
            </a:r>
          </a:p>
          <a:p>
            <a:r>
              <a:t>2018</a:t>
            </a:r>
          </a:p>
          <a:p>
            <a:r>
              <a:t>2019</a:t>
            </a:r>
          </a:p>
          <a:p>
            <a:r>
              <a:t>2020</a:t>
            </a:r>
          </a:p>
          <a:p>
            <a:r>
              <a:t>2021</a:t>
            </a:r>
          </a:p>
          <a:p>
            <a:r>
              <a:t>2022</a:t>
            </a:r>
          </a:p>
          <a:p>
            <a:r>
              <a:t>2023</a:t>
            </a:r>
          </a:p>
          <a:p>
            <a:r>
              <a:t>Año</a:t>
            </a:r>
          </a:p>
          <a:p>
            <a:r>
              <a:t>90</a:t>
            </a:r>
          </a:p>
          <a:p>
            <a:r>
              <a:t>95</a:t>
            </a:r>
          </a:p>
          <a:p>
            <a:r>
              <a:t>100</a:t>
            </a:r>
          </a:p>
          <a:p>
            <a:r>
              <a:t>105</a:t>
            </a:r>
          </a:p>
          <a:p>
            <a:r>
              <a:t>Índice de VAB real · 2019 = 100</a:t>
            </a:r>
          </a:p>
          <a:p>
            <a:r>
              <a:t>Minero enclave  97.6</a:t>
            </a:r>
          </a:p>
          <a:p>
            <a:r>
              <a:t>Servicios / manufactura  103.1</a:t>
            </a:r>
          </a:p>
          <a:p>
            <a:r>
              <a:t>Diversificado / agro  104.9</a:t>
            </a:r>
          </a:p>
          <a:p>
            <a:r>
              <a:t>Minero diversificado  106.6</a:t>
            </a:r>
          </a:p>
          <a:p>
            <a:r>
              <a:t>Nivel de 2019</a:t>
            </a:r>
          </a:p>
          <a:p>
            <a:r>
              <a:t>2020</a:t>
            </a:r>
          </a:p>
          <a:p>
            <a:r>
              <a:t>El índice medio de enclave es 95.9 en 2021, 94.6 en 2022 y 97.6 en 2023. Los otros tres perfiles</a:t>
            </a:r>
          </a:p>
          <a:p>
            <a:r>
              <a:t>superan 100 al cierre.</a:t>
            </a:r>
          </a:p>
          <a:p>
            <a:r>
              <a:t>Fuente: INEI. Promedio simple del índice de cada departamento; no es el VAB agregado del grupo.</a:t>
            </a:r>
          </a:p>
          <a:p>
            <a:r>
              <a:t>CCDE | Estructura productiva y recuperación regional</a:t>
            </a:r>
          </a:p>
          <a:p>
            <a:r>
              <a:t>9</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tasas y los niveles muestran contrastes distintos</a:t>
            </a:r>
          </a:p>
          <a:p>
            <a:r>
              <a:t>10</a:t>
            </a:r>
          </a:p>
          <a:p>
            <a:r>
              <a:t>0</a:t>
            </a:r>
          </a:p>
          <a:p>
            <a:r>
              <a:t>10</a:t>
            </a:r>
          </a:p>
          <a:p>
            <a:r>
              <a:t>Diferencial de crecimiento (pp)</a:t>
            </a:r>
          </a:p>
          <a:p>
            <a:r>
              <a:t>2020 · Enclave minero</a:t>
            </a:r>
          </a:p>
          <a:p>
            <a:r>
              <a:t>2020 · Minero diversificado</a:t>
            </a:r>
          </a:p>
          <a:p>
            <a:r>
              <a:t>2020 · Servicios / manufactura</a:t>
            </a:r>
          </a:p>
          <a:p>
            <a:r>
              <a:t>2021 2023 · Enclave minero</a:t>
            </a:r>
          </a:p>
          <a:p>
            <a:r>
              <a:t>2021 2023 · Minero diversificado</a:t>
            </a:r>
          </a:p>
          <a:p>
            <a:r>
              <a:t>2021 2023 · Servicios / manufactura</a:t>
            </a:r>
          </a:p>
          <a:p>
            <a:r>
              <a:t>A. Tasas anuales (M1 y M4)</a:t>
            </a:r>
          </a:p>
          <a:p>
            <a:r>
              <a:t>20</a:t>
            </a:r>
          </a:p>
          <a:p>
            <a:r>
              <a:t>10</a:t>
            </a:r>
          </a:p>
          <a:p>
            <a:r>
              <a:t>0</a:t>
            </a:r>
          </a:p>
          <a:p>
            <a:r>
              <a:t>10</a:t>
            </a:r>
          </a:p>
          <a:p>
            <a:r>
              <a:t>Diferencial del índice (puntos)</a:t>
            </a:r>
          </a:p>
          <a:p>
            <a:r>
              <a:t>B. Niveles indexados (M5)</a:t>
            </a:r>
          </a:p>
          <a:p>
            <a:r>
              <a:t>M1 · muestra completa</a:t>
            </a:r>
          </a:p>
          <a:p>
            <a:r>
              <a:t>M4 · sin Apurímac 2016</a:t>
            </a:r>
          </a:p>
          <a:p>
            <a:r>
              <a:t>Enclave minero</a:t>
            </a:r>
          </a:p>
          <a:p>
            <a:r>
              <a:t>Minero diversificado</a:t>
            </a:r>
          </a:p>
          <a:p>
            <a:r>
              <a:t>Servicios / manufactura</a:t>
            </a:r>
          </a:p>
          <a:p>
            <a:r>
              <a:t>Los intervalos muestran la incertidumbre. M5 estima un cambio relativo de -10.92 puntos en encla-</a:t>
            </a:r>
          </a:p>
          <a:p>
            <a:r>
              <a:t>ves durante 2021–2023 (p = 0,0029).</a:t>
            </a:r>
          </a:p>
          <a:p>
            <a:r>
              <a:t>Fuente: PanelOLS con efectos fijos departamentales; IC de la distribución t del estimador, errores agrupados por departamento. Escalas</a:t>
            </a:r>
          </a:p>
          <a:p>
            <a:r>
              <a:t>independientes.</a:t>
            </a:r>
          </a:p>
          <a:p>
            <a:r>
              <a:t>CCDE | Estructura productiva y recuperación regional</a:t>
            </a:r>
          </a:p>
          <a:p>
            <a:r>
              <a:t>10</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interpretar el diferencial de -10.92 puntos</a:t>
            </a:r>
          </a:p>
          <a:p>
            <a:r>
              <a:t>-10.92</a:t>
            </a:r>
          </a:p>
          <a:p>
            <a:r>
              <a:t>Puntos del índice · M5</a:t>
            </a:r>
          </a:p>
          <a:p>
            <a:r>
              <a:t>IC 95 %: [-18.05, -3.79].</a:t>
            </a:r>
          </a:p>
          <a:p>
            <a:r>
              <a:t>Periodo: 2021–2023.</a:t>
            </a:r>
          </a:p>
          <a:p>
            <a:r>
              <a:t>Referencia productiva: diversificado/agro.</a:t>
            </a:r>
          </a:p>
          <a:p>
            <a:r>
              <a:t>Referencia temporal: 2017–2019.</a:t>
            </a:r>
          </a:p>
          <a:p>
            <a:r>
              <a:t>Cambio relativo</a:t>
            </a:r>
          </a:p>
          <a:p>
            <a:r>
              <a:t>Es la diferencia entre cambios de</a:t>
            </a:r>
          </a:p>
          <a:p>
            <a:r>
              <a:t>ambos grupos respecto a sus niveles</a:t>
            </a:r>
          </a:p>
          <a:p>
            <a:r>
              <a:t>medios del periodo previo. No es la</a:t>
            </a:r>
          </a:p>
          <a:p>
            <a:r>
              <a:t>brecha de VAB de un solo año.</a:t>
            </a:r>
          </a:p>
          <a:p>
            <a:r>
              <a:t>El predictor continuo M6 apunta en la</a:t>
            </a:r>
          </a:p>
          <a:p>
            <a:r>
              <a:t>misma dirección: -2.76 puntos por una</a:t>
            </a:r>
          </a:p>
          <a:p>
            <a:r>
              <a:t>desviación estándar de extracción</a:t>
            </a:r>
          </a:p>
          <a:p>
            <a:r>
              <a:t>(p = 0,0747); evidencia imprecisa al 5 %.</a:t>
            </a:r>
          </a:p>
          <a:p>
            <a:r>
              <a:t>Fuente: M5–M6: 168 observaciones y 24 departamentos. El índice base no construye un contrafactual sin pandemia.</a:t>
            </a:r>
          </a:p>
          <a:p>
            <a:r>
              <a:t>CCDE | Estructura productiva y recuperación regional</a:t>
            </a:r>
          </a:p>
          <a:p>
            <a:r>
              <a:t>11</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límites delimitan las conclusiones</a:t>
            </a:r>
          </a:p>
          <a:p>
            <a:r>
              <a:t>Clasificación sensible a la representación</a:t>
            </a:r>
          </a:p>
          <a:p>
            <a:r>
              <a:t>PCA3 e ILR completo modifican la partición. K=4 no es un óptimo universal.</a:t>
            </a:r>
          </a:p>
          <a:p>
            <a:r>
              <a:t>Inferencia con pocas unidades</a:t>
            </a:r>
          </a:p>
          <a:p>
            <a:r>
              <a:t>Hay 3 departamentos enclave y 24 grupos de inferencia. La muestra pequeña limita la preci-</a:t>
            </a:r>
          </a:p>
          <a:p>
            <a:r>
              <a:t>sión.</a:t>
            </a:r>
          </a:p>
          <a:p>
            <a:r>
              <a:t>Persistencia observada, sin atribución causal</a:t>
            </a:r>
          </a:p>
          <a:p>
            <a:r>
              <a:t>No se separan pandemia, conflictos e inversión. El horizonte hasta 2023 no demuestra un</a:t>
            </a:r>
          </a:p>
          <a:p>
            <a:r>
              <a:t>daño permanente.</a:t>
            </a:r>
          </a:p>
          <a:p>
            <a:r>
              <a:t>Fuente: Discusión y sensibilidades del artículo CCDE.</a:t>
            </a:r>
          </a:p>
          <a:p>
            <a:r>
              <a:t>CCDE | Estructura productiva y recuperación regional</a:t>
            </a:r>
          </a:p>
          <a:p>
            <a:r>
              <a:t>12</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Monitorear niveles recuperados y heterogeneidad regional</a:t>
            </a:r>
          </a:p>
          <a:p>
            <a:r>
              <a:t>1. Ampliar el tablero regional</a:t>
            </a:r>
          </a:p>
          <a:p>
            <a:r>
              <a:t>Combinar tasas anuales con índices de nivel y trayectorias departamentales.</a:t>
            </a:r>
          </a:p>
          <a:p>
            <a:r>
              <a:t>2. Examinar los enclaves por separado</a:t>
            </a:r>
          </a:p>
          <a:p>
            <a:r>
              <a:t>La agregación de todos los departamentos mineros oculta diferencias de recuperación.</a:t>
            </a:r>
          </a:p>
          <a:p>
            <a:r>
              <a:t>3. Investigar los mecanismos</a:t>
            </a:r>
          </a:p>
          <a:p>
            <a:r>
              <a:t>Contrastar inversión, conflictividad y vínculos productivos con nuevos datos antes de atribuir</a:t>
            </a:r>
          </a:p>
          <a:p>
            <a:r>
              <a:t>causas o recomendar instrumentos específicos.</a:t>
            </a:r>
          </a:p>
          <a:p>
            <a:r>
              <a:t>Fuente: Síntesis CCDE. Las prioridades de investigación se derivan de asociaciones; no constituyen una evaluación de políticas.</a:t>
            </a:r>
          </a:p>
          <a:p>
            <a:r>
              <a:t>CCDE | Estructura productiva y recuperación regional</a:t>
            </a:r>
          </a:p>
          <a:p>
            <a:r>
              <a:t>13</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 Ward K=2 separa 3 y 21 departamentos</a:t>
            </a:r>
          </a:p>
          <a:p>
            <a:r>
              <a:t>0</a:t>
            </a:r>
          </a:p>
          <a:p>
            <a:r>
              <a:t>1</a:t>
            </a:r>
          </a:p>
          <a:p>
            <a:r>
              <a:t>2</a:t>
            </a:r>
          </a:p>
          <a:p>
            <a:r>
              <a:t>3</a:t>
            </a:r>
          </a:p>
          <a:p>
            <a:r>
              <a:t>4</a:t>
            </a:r>
          </a:p>
          <a:p>
            <a:r>
              <a:t>5</a:t>
            </a:r>
          </a:p>
          <a:p>
            <a:r>
              <a:t>6</a:t>
            </a:r>
          </a:p>
          <a:p>
            <a:r>
              <a:t>7</a:t>
            </a:r>
          </a:p>
          <a:p>
            <a:r>
              <a:t>8</a:t>
            </a:r>
          </a:p>
          <a:p>
            <a:r>
              <a:t>Altura de fusión Ward · espacio CLR + PCA2</a:t>
            </a:r>
          </a:p>
          <a:p>
            <a:r>
              <a:t>Lima</a:t>
            </a:r>
          </a:p>
          <a:p>
            <a:r>
              <a:t>Lambayeque</a:t>
            </a:r>
          </a:p>
          <a:p>
            <a:r>
              <a:t>San Martín</a:t>
            </a:r>
          </a:p>
          <a:p>
            <a:r>
              <a:t>Amazonas</a:t>
            </a:r>
          </a:p>
          <a:p>
            <a:r>
              <a:t>Huánuco</a:t>
            </a:r>
          </a:p>
          <a:p>
            <a:r>
              <a:t>Puno</a:t>
            </a:r>
          </a:p>
          <a:p>
            <a:r>
              <a:t>Ucayali</a:t>
            </a:r>
          </a:p>
          <a:p>
            <a:r>
              <a:t>Piura</a:t>
            </a:r>
          </a:p>
          <a:p>
            <a:r>
              <a:t>La Libertad</a:t>
            </a:r>
          </a:p>
          <a:p>
            <a:r>
              <a:t>Tumbes</a:t>
            </a:r>
          </a:p>
          <a:p>
            <a:r>
              <a:t>Ayacucho</a:t>
            </a:r>
          </a:p>
          <a:p>
            <a:r>
              <a:t>Cajamarca</a:t>
            </a:r>
          </a:p>
          <a:p>
            <a:r>
              <a:t>Ica</a:t>
            </a:r>
          </a:p>
          <a:p>
            <a:r>
              <a:t>Loreto</a:t>
            </a:r>
          </a:p>
          <a:p>
            <a:r>
              <a:t>Moquegua</a:t>
            </a:r>
          </a:p>
          <a:p>
            <a:r>
              <a:t>Junín</a:t>
            </a:r>
          </a:p>
          <a:p>
            <a:r>
              <a:t>Madre de Dios</a:t>
            </a:r>
          </a:p>
          <a:p>
            <a:r>
              <a:t>Tacna</a:t>
            </a:r>
          </a:p>
          <a:p>
            <a:r>
              <a:t>Arequipa</a:t>
            </a:r>
          </a:p>
          <a:p>
            <a:r>
              <a:t>Cusco</a:t>
            </a:r>
          </a:p>
          <a:p>
            <a:r>
              <a:t>Áncash</a:t>
            </a:r>
          </a:p>
          <a:p>
            <a:r>
              <a:t>Huancavelica</a:t>
            </a:r>
          </a:p>
          <a:p>
            <a:r>
              <a:t>Apurímac</a:t>
            </a:r>
          </a:p>
          <a:p>
            <a:r>
              <a:t>Pasco</a:t>
            </a:r>
          </a:p>
          <a:p>
            <a:r>
              <a:t>Corte K=4</a:t>
            </a:r>
          </a:p>
          <a:p>
            <a:r>
              <a:t>Corte K=2</a:t>
            </a:r>
          </a:p>
          <a:p>
            <a:r>
              <a:t>El corte jerárquico K=2 aísla el perfil diversificado/agro. La agregación económica mine-</a:t>
            </a:r>
          </a:p>
          <a:p>
            <a:r>
              <a:t>ro/diversificado de 10/14 unidades se construye desde K=4.</a:t>
            </a:r>
          </a:p>
          <a:p>
            <a:r>
              <a:t>Fuente: Ward sobre CLR + PCA2. Las alturas de corte se calculan a partir de las fusiones, sin fijarlas manualmente.</a:t>
            </a:r>
          </a:p>
          <a:p>
            <a:r>
              <a:t>CCDE | Estructura productiva y recuperación regional</a:t>
            </a:r>
          </a:p>
          <a:p>
            <a:r>
              <a:t>14</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 Seis modelos con una fuente de resultados</a:t>
            </a:r>
          </a:p>
          <a:p>
            <a:r>
              <a:t>Modelo</a:t>
            </a:r>
          </a:p>
          <a:p>
            <a:r>
              <a:t>Especificación</a:t>
            </a:r>
          </a:p>
          <a:p>
            <a:r>
              <a:t>Periodo</a:t>
            </a:r>
          </a:p>
          <a:p>
            <a:r>
              <a:t>Obs.</a:t>
            </a:r>
          </a:p>
          <a:p>
            <a:r>
              <a:t>R2</a:t>
            </a:r>
          </a:p>
          <a:p>
            <a:r>
              <a:t>w</a:t>
            </a:r>
          </a:p>
          <a:p>
            <a:r>
              <a:t>M1</a:t>
            </a:r>
          </a:p>
          <a:p>
            <a:r>
              <a:t>Tasas, cuatro perfiles</a:t>
            </a:r>
          </a:p>
          <a:p>
            <a:r>
              <a:t>2008–2023</a:t>
            </a:r>
          </a:p>
          <a:p>
            <a:r>
              <a:t>384</a:t>
            </a:r>
          </a:p>
          <a:p>
            <a:r>
              <a:t>0.145</a:t>
            </a:r>
          </a:p>
          <a:p>
            <a:r>
              <a:t>M2</a:t>
            </a:r>
          </a:p>
          <a:p>
            <a:r>
              <a:t>Tasas, dos macrogrupos</a:t>
            </a:r>
          </a:p>
          <a:p>
            <a:r>
              <a:t>2008–2023</a:t>
            </a:r>
          </a:p>
          <a:p>
            <a:r>
              <a:t>384</a:t>
            </a:r>
          </a:p>
          <a:p>
            <a:r>
              <a:t>0.141</a:t>
            </a:r>
          </a:p>
          <a:p>
            <a:r>
              <a:t>M3</a:t>
            </a:r>
          </a:p>
          <a:p>
            <a:r>
              <a:t>Tasas, minería continua</a:t>
            </a:r>
          </a:p>
          <a:p>
            <a:r>
              <a:t>2008–2023</a:t>
            </a:r>
          </a:p>
          <a:p>
            <a:r>
              <a:t>384</a:t>
            </a:r>
          </a:p>
          <a:p>
            <a:r>
              <a:t>0.142</a:t>
            </a:r>
          </a:p>
          <a:p>
            <a:r>
              <a:t>M4</a:t>
            </a:r>
          </a:p>
          <a:p>
            <a:r>
              <a:t>Tasas, sin Apurímac 2016</a:t>
            </a:r>
          </a:p>
          <a:p>
            <a:r>
              <a:t>2008–2023</a:t>
            </a:r>
          </a:p>
          <a:p>
            <a:r>
              <a:t>383</a:t>
            </a:r>
          </a:p>
          <a:p>
            <a:r>
              <a:t>0.277</a:t>
            </a:r>
          </a:p>
          <a:p>
            <a:r>
              <a:t>M5</a:t>
            </a:r>
          </a:p>
          <a:p>
            <a:r>
              <a:t>Índice, cuatro perfiles</a:t>
            </a:r>
          </a:p>
          <a:p>
            <a:r>
              <a:t>2017–2023</a:t>
            </a:r>
          </a:p>
          <a:p>
            <a:r>
              <a:t>168</a:t>
            </a:r>
          </a:p>
          <a:p>
            <a:r>
              <a:t>0.355</a:t>
            </a:r>
          </a:p>
          <a:p>
            <a:r>
              <a:t>M6</a:t>
            </a:r>
          </a:p>
          <a:p>
            <a:r>
              <a:t>Índice, minería continua</a:t>
            </a:r>
          </a:p>
          <a:p>
            <a:r>
              <a:t>2017–2023</a:t>
            </a:r>
          </a:p>
          <a:p>
            <a:r>
              <a:t>168</a:t>
            </a:r>
          </a:p>
          <a:p>
            <a:r>
              <a:t>0.345</a:t>
            </a:r>
          </a:p>
          <a:p>
            <a:r>
              <a:t>Los modelos incluyen efectos fijos departamentales y errores agrupados por departamento.</a:t>
            </a:r>
          </a:p>
          <a:p>
            <a:r>
              <a:t>El R2 de tasas y niveles no es un criterio de superioridad entre variables y muestras distin-</a:t>
            </a:r>
          </a:p>
          <a:p>
            <a:r>
              <a:t>tas.</a:t>
            </a:r>
          </a:p>
          <a:p>
            <a:r>
              <a:t>Fuente: Resultados generados por el pipeline; tablas completas, errores estándar e intervalos en el artículo y los archivos procesados.</a:t>
            </a:r>
          </a:p>
          <a:p>
            <a:r>
              <a:t>CCDE | Estructura productiva y recuperación regional</a:t>
            </a:r>
          </a:p>
          <a:p>
            <a:r>
              <a:t>15</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 Referencias y reproducción</a:t>
            </a:r>
          </a:p>
          <a:p>
            <a:r>
              <a:t>INEI. Cuentas departamentales a precios constantes de 2007. Libros fuente conservados en el</a:t>
            </a:r>
          </a:p>
          <a:p>
            <a:r>
              <a:t>repositorio.</a:t>
            </a:r>
          </a:p>
          <a:p>
            <a:r>
              <a:t>Aitchison (1986). The Statistical Analysis of Compositional Data.</a:t>
            </a:r>
          </a:p>
          <a:p>
            <a:r>
              <a:t>Martín-Fernández et al. (2003). Tratamiento de ceros; Egozcue et al. (2003). Coordenadas ILR.</a:t>
            </a:r>
          </a:p>
          <a:p>
            <a:r>
              <a:t>Tibshirani et al. (2001). Gap; Hennig (2007). Estabilidad de grupos.</a:t>
            </a:r>
          </a:p>
          <a:p>
            <a:r>
              <a:t>Un solo flujo de reproducción</a:t>
            </a:r>
          </a:p>
          <a:p>
            <a:r>
              <a:t>python src/generar_analisis_completo.py</a:t>
            </a:r>
          </a:p>
          <a:p>
            <a:r>
              <a:t>python src/compilar.py</a:t>
            </a:r>
          </a:p>
          <a:p>
            <a:r>
              <a:t>https://github.com/CCDE-DataLab/clusters-departamentales</a:t>
            </a:r>
          </a:p>
          <a:p>
            <a:r>
              <a:t>Fuente: Referencias bibliográficas y enlaces completos en el artículo CCDE. Configuración metodológica en config/analisis.toml.</a:t>
            </a:r>
          </a:p>
          <a:p>
            <a:r>
              <a:t>CCDE | Estructura productiva y recuperación regional</a:t>
            </a:r>
          </a:p>
          <a:p>
            <a:r>
              <a:t>16</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1. Estructura Productiva y Cicatriz COVID-19 Tipología Composicional (CLR/ILR) y Econometría de Panel en los 24 Departamentos del Perú Círculo de Ciencia de Datos y Econometría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2. Los enclaves aún no recuperan el nivel de 2019 97.6 VAB de enclaves en 2023 Base 2019 = 100 106.6 Índice minero diversificado en 2023 -10.92 Diferencial relativo en 2021–2023 (M5) La recuperación difiere entre perfiles productivos. Primero identificamos la estructura previa; después distinguimos el rebote anual del nivel recuperado. Fuente: INEI, base local; promedios departamentales sin ponderar y modelo M5. Asociación descriptiva, sin identificación causal. CCDE | Estructura productiva y recuperación regional 2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3. Una misma pregunta requiere tres ventanas 2015–2019 Estructura previa 24 departamentos 11 actividades armoniza- das Promedio de participacio- nes 2008–2023 Crecimiento anual 384 observaciones Panel balanceado Modelos M1–M4 2017–2023 Nivel recuperado 168 observaciones Base 2019 = 100 Modelos M5–M6 La base local contiene 428 filas de 2008–2025. Se excluyen los años finales incompletos para mantener las muestras balanceadas. Fuente: Libros INEI, cuadros 1 y 2. La magnitud observada es valor agregado bruto (VAB) real; «PIB» era el nombre heredado de la variable. CCDE | Estructura productiva y recuperación regional 3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4. Cuatro perfiles resumen la estructura previa 4 3 2 1 0 1 2 3 PC1 · 51.7% de la varianza CLR 3 2 1 0 1 2 PC2 · 20.0% de la varianza CLR Lambayeque Lima San Martín Amazonas Ayacucho Cajamarca Huánuco Ica La Libertad Loreto Piura Puno Tumbes Ucayali Arequipa Cusco Junín Madre de Dios Moquegua Tacna Áncash Apurímac Huancavelica Pasco Diversificado / agro (n=3) Servicios / manufactura (n=11) Minero diversificado (n=7) Minero enclave (n=3) Los dos primeros componentes conservan el 71.68 % de la varianza CLR. El mapa muestra posicio- nes departamentales; las cargas sectoriales se documentan en el artículo. Fuente: INEI. CLR y PCA del promedio 2015–2019; Ward K=4. CCDE | Estructura productiva y recuperación regional 4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5. La extracción distingue dos perfiles mineros 0 20 40 60 80 100 Participación media en el VAB departamental (%) Minero enclave  (n=3) Minero diversificado  (n=7) Servicios / manufactura  (n=11) Diversificado / agro  (n=3) 41.9% 37.4% 12.2% 12.2% 12.7% 13.9% 12.3% 48.2% 45.1% 63.3% 74.1% Extracción minera e hidrocarburos Manufactura Agropecuario Otras actividades Los grupos mineros reúnen 10 departamentos; los otros perfiles reúnen 14. Esta agregación econó- mica es distinta del corte Ward K=2. Fuente: INEI. Medias sin ponderar entre departamentos; las barras suman 100 %. CCDE | Estructura productiva y recuperación regional 5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6. K=4 es una tipología útil, con criterios en tensión 2 3 4 5 Número de grupos (K) 0.0 0.1 0.2 0.3 0.4 0.5 Silueta · mayor es mejor Separación entre grupos Ward KMeans PAM GMM 1 2 3 4 5 Número de grupos (K) 0.1 0.0 0.1 0.2 0.3 0.4 0.5 Gap ± 1 error estándar Gap y error de Monte Carlo 2 3 4 5 Número de grupos (K) 0.0 0.2 0.4 0.6 0.8 1.0 Jaccard medio · escala 0 1 Estabilidad por submuestreo Ward K-Means K=2 lidera en silueta (0.498); K=4 alcanza Jaccard Ward de 85.0 %. La regla Gap de un error estándar selecciona K=1. Fuente: 48 configuraciones; Gap con 30 réplicas; submuestreo del 80 % sin reemplazo, 100 réplicas. CCDE | Estructura productiva y recuperación regional 6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7. Un episodio extremo influye en la volatilidad 0 50 100 150 Crecimiento anual del VAB real (%) Diversificado / agro Servicios / manufactura Minero diversificado Minero enclave Apurímac 2016 +141.2% Todas las observaciones · eje lineal 0 5 10 15 20 25 Desviación estándar del crecimiento (pp) 4.9 4.9 5.9 5.9 8.5 8.5 21.3 7.0 El extremo influye en la volatilidad Muestra completa Sin la observación excluida en M4 La desviación estándar de enclave es 4.3 veces la del perfil diversificado/agro. Es una comparación descriptiva que incluye pandemia y rebote. Fuente: Panel 2008–2023, 384 observaciones. M4 excluye Apurímac 2016 como sensibilidad, sin borrar el dato original. CCDE | Estructura productiva y recuperación regional 7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8. Un rebote positivo puede dejar el nivel por debajo de 100 Ejemplo aritmético 100 × (1 −0,12) × (1 + 0,09) = 95,92 Las tasas miden cambios Una caída de 12 % seguida de crecimiento de 9 % deja una pérdida acumulada de 4.08 %. El índice mide el nivel M1–M4 estudian crecimiento anual. M5–M6 estudian el nivel relativo a 2019. Cada variable responde una pregunta distinta. Fuente: Ejemplo ilustrativo; los porcentajes de esta lámina no son estimaciones del panel. CCDE | Estructura productiva y recuperación regional 8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9. Los enclaves quedan bajo 100 durante la recuperación 2017 2018 2019 2020 2021 2022 2023 Año 90 95 100 105 Índice de VAB real · 2019 = 100 Minero enclave  97.6 Servicios / manufactura  103.1 Diversificado / agro  104.9 Minero diversificado  106.6 Nivel de 2019 2020 El índice medio de enclave es 95.9 en 2021, 94.6 en 2022 y 97.6 en 2023. Los otros tres perfiles superan 100 al cierre. Fuente: INEI. Promedio simple del índice de cada departamento; no es el VAB agregado del grupo. CCDE | Estructura productiva y recuperación regional 9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10. Las tasas y los niveles muestran contrastes distintos 10 0 10 Diferencial de crecimiento (pp) 2020 · Enclave minero 2020 · Minero diversificado 2020 · Servicios / manufactura 2021 2023 · Enclave minero 2021 2023 · Minero diversificado 2021 2023 · Servicios / manufactura A. Tasas anuales (M1 y M4) 20 10 0 10 Diferencial del índice (puntos) B. Niveles indexados (M5) M1 · muestra completa M4 · sin Apurímac 2016 Enclave minero Minero diversificado Servicios / manufactura Los intervalos muestran la incertidumbre. M5 estima un cambio relativo de -10.92 puntos en encla- ves durante 2021–2023 (p = 0,0029). Fuente: PanelOLS con efectos fijos departamentales; IC de la distribución t del estimador, errores agrupados por departamento. Escalas independientes. CCDE | Estructura productiva y recuperación regional 10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11. Cómo interpretar el diferencial de -10.92 puntos -10.92 Puntos del índice · M5 IC 95 %: [-18.05, -3.79]. Periodo: 2021–2023. Referencia productiva: diversificado/agro. Referencia temporal: 2017–2019. Cambio relativo Es la diferencia entre cambios de ambos grupos respecto a sus niveles medios del periodo previo. No es la brecha de VAB de un solo año. El predictor continuo M6 apunta en la misma dirección: -2.76 puntos por una desviación estándar de extracción (p = 0,0747); evidencia imprecisa al 5 %. Fuente: M5–M6: 168 observaciones y 24 departamentos. El índice base no construye un contrafactual sin pandemia. CCDE | Estructura productiva y recuperación regional 11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12. Tres límites delimitan las conclusiones Clasificación sensible a la representación PCA3 e ILR completo modifican la partición. K=4 no es un óptimo universal. Inferencia con pocas unidades Hay 3 departamentos enclave y 24 grupos de inferencia. La muestra pequeña limita la preci- sión. Persistencia observada, sin atribución causal No se separan pandemia, conflictos e inversión. El horizonte hasta 2023 no demuestra un daño permanente. Fuente: Discusión y sensibilidades del artículo CCDE. CCDE | Estructura productiva y recuperación regional 12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13. Monitorear niveles recuperados y heterogeneidad regional 1. Ampliar el tablero regional Combinar tasas anuales con índices de nivel y trayectorias departamentales. 2. Examinar los enclaves por separado La agregación de todos los departamentos mineros oculta diferencias de recuperación. 3. Investigar los mecanismos Contrastar inversión, conflictividad y vínculos productivos con nuevos datos antes de atribuir causas o recomendar instrumentos específicos. Fuente: Síntesis CCDE. Las prioridades de investigación se derivan de asociaciones; no constituyen una evaluación de políticas. CCDE | Estructura productiva y recuperación regional 13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14. Anexo · Ward K=2 separa 3 y 21 departamentos 0 1 2 3 4 5 6 7 8 Altura de fusión Ward · espacio CLR + PCA2 Lima Lambayeque San Martín Amazonas Huánuco Puno Ucayali Piura La Libertad Tumbes Ayacucho Cajamarca Ica Loreto Moquegua Junín Madre de Dios Tacna Arequipa Cusco Áncash Huancavelica Apurímac Pasco Corte K=4 Corte K=2 El corte jerárquico K=2 aísla el perfil diversificado/agro. La agregación económica mine- ro/diversificado de 10/14 unidades se construye desde K=4. Fuente: Ward sobre CLR + PCA2. Las alturas de corte se calculan a partir de las fusiones, sin fijarlas manualmente. CCDE | Estructura productiva y recuperación regional 14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15. Anexo · Seis modelos con una fuente de resultados Modelo Especificación Periodo Obs. R2 w M1 Tasas, cuatro perfiles 2008–2023 384 0.145 M2 Tasas, dos macrogrupos 2008–2023 384 0.141 M3 Tasas, minería continua 2008–2023 384 0.142 M4 Tasas, sin Apurímac 2016 2008–2023 383 0.277 M5 Índice, cuatro perfiles 2017–2023 168 0.355 M6 Índice, minería continua 2017–2023 168 0.345 Los modelos incluyen efectos fijos departamentales y errores agrupados por departamento. El R2 de tasas y niveles no es un criterio de superioridad entre variables y muestras distin- tas. Fuente: Resultados generados por el pipeline; tablas completas, errores estándar e intervalos en el artículo y los archivos procesados. CCDE | Estructura productiva y recuperación regional 15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16. Anexo · Referencias y reproducción INEI. Cuentas departamentales a precios constantes de 2007. Libros fuente conservados en el repositorio. Aitchison (1986). The Statistical Analysis of Compositional Data. Martín-Fernández et al. (2003). Tratamiento de ceros; Egozcue et al. (2003). Coordenadas ILR. Tibshirani et al. (2001). Gap; Hennig (2007). Estabilidad de grupos. Un solo flujo de reproducción python src/generar_analisis_completo.py python src/compilar.py https://github.com/CCDE-DataLab/clusters-departamentales Fuente: Referencias bibliográficas y enlaces completos en el artículo CCDE. Configuración metodológica en config/analisis.toml. CCDE | Estructura productiva y recuperación regional 16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Estructura productiva y recuperación regional</dc:title>
  <dc:subject/>
  <dc:creator>Círculo de Ciencia de Datos y Econometría (CCDE)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