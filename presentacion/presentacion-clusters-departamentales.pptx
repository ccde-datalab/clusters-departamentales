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846320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91440"/>
          </a:xfrm>
          <a:prstGeom prst="rect">
            <a:avLst/>
          </a:prstGeom>
          <a:solidFill>
            <a:srgbClr val="007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D8F0"/>
                </a:solidFill>
                <a:latin typeface="Segoe UI"/>
              </a:defRPr>
            </a:pPr>
            <a:r>
              <a:t>ECONOMETRÍA REGIONAL Y ANÁLISIS DE DATOS COMPOSICIONALES</a:t>
            </a:r>
          </a:p>
          <a:p>
            <a:pPr>
              <a:spcAft>
                <a:spcPts val="16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Estructura Productiva Regional, Volatilidad Macroeconómica y el Efecto Cicatriz del COVID-19 en el Perú</a:t>
            </a:r>
          </a:p>
          <a:p>
            <a:pPr>
              <a:defRPr sz="1600">
                <a:solidFill>
                  <a:srgbClr val="D7E4F2"/>
                </a:solidFill>
                <a:latin typeface="Segoe UI"/>
              </a:defRPr>
            </a:pPr>
            <a:r>
              <a:t>Taxonomía Composicional (CoDa) 2015–2019 y Panel de Efectos Fijos (2008–2023)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6636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1C3D"/>
                </a:solidFill>
                <a:latin typeface="Segoe UI"/>
              </a:defRPr>
            </a:pPr>
            <a:r>
              <a:t>Círculo de Ciencia de Datos y Econometría (CCDE)</a:t>
            </a:r>
          </a:p>
          <a:p>
            <a:pPr>
              <a:defRPr sz="1200">
                <a:solidFill>
                  <a:srgbClr val="586069"/>
                </a:solidFill>
                <a:latin typeface="Segoe UI"/>
              </a:defRPr>
            </a:pPr>
            <a:r>
              <a:t>Universidad Nacional de Ingeniería — Facultad de Ingeniería Económica, Estadística y CC.SS.</a:t>
            </a:r>
          </a:p>
        </p:txBody>
      </p:sp>
      <p:pic>
        <p:nvPicPr>
          <p:cNvPr id="6" name="Picture 5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074920"/>
            <a:ext cx="1589913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Síntesis Ejecutiva: Pregunta Empírica y 3 Hallazgos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2/14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32688"/>
            <a:ext cx="11365992" cy="96012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1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005840"/>
            <a:ext cx="11109960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0B1C3D"/>
                </a:solidFill>
                <a:latin typeface="Segoe UI"/>
              </a:rPr>
              <a:t>Pregunta de Investigación: </a:t>
            </a:r>
            <a:r>
              <a:rPr sz="1200">
                <a:solidFill>
                  <a:srgbClr val="19202A"/>
                </a:solidFill>
                <a:latin typeface="Segoe UI"/>
              </a:rPr>
              <a:t>¿La especialización extractiva regional previa a la pandemia (2015–2019) amplificó el colapso del PBI en 2020 o condicionó la recuperación post-COVID (2021–2023)? 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0B1C3D"/>
                </a:solidFill>
                <a:latin typeface="Segoe UI"/>
              </a:rPr>
              <a:t>Gobernanza Temporal: </a:t>
            </a:r>
            <a:r>
              <a:rPr sz="1200">
                <a:solidFill>
                  <a:srgbClr val="19202A"/>
                </a:solidFill>
                <a:latin typeface="Segoe UI"/>
              </a:rPr>
              <a:t>La estructura productiva se fija en la ventana pre-shock 2015–2019 para evitar simultaneidad con el COVID-19.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76272"/>
            <a:ext cx="3639312" cy="3977639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0B1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72" y="2029967"/>
            <a:ext cx="3310128" cy="347472"/>
          </a:xfrm>
          <a:prstGeom prst="roundRect">
            <a:avLst>
              <a:gd name="adj" fmla="val 20000"/>
            </a:avLst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Taxonomía CoDa (K=4 y K=2)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414015"/>
            <a:ext cx="338328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Geometría de Aitchison: </a:t>
            </a:r>
            <a:r>
              <a:rPr sz="1100">
                <a:solidFill>
                  <a:srgbClr val="19202A"/>
                </a:solidFill>
                <a:latin typeface="Segoe UI"/>
              </a:rPr>
              <a:t>Transformación CLR + reemplazo multiplicativo (δ = 0.05%) sobre 12 sectores VAB.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Dos Ejes Ortogonales: </a:t>
            </a:r>
            <a:r>
              <a:rPr sz="1100">
                <a:solidFill>
                  <a:srgbClr val="19202A"/>
                </a:solidFill>
                <a:latin typeface="Segoe UI"/>
              </a:rPr>
              <a:t>PC1 (51.7%) captura intensidad minera (+0.91); PC2 (20.0%) opone manufactura (+0.63) vs. agro (-0.54).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Partición Robusta: </a:t>
            </a:r>
            <a:r>
              <a:rPr sz="1100">
                <a:solidFill>
                  <a:srgbClr val="19202A"/>
                </a:solidFill>
                <a:latin typeface="Segoe UI"/>
              </a:rPr>
              <a:t>Ward y K-Means convergen en K=4 (Jaccard = 85.0%–87.7%), anidada en Macro Minero (N=10) vs. Diversificado (N=14).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2176272"/>
            <a:ext cx="3639312" cy="3977639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D95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2029967"/>
            <a:ext cx="3310128" cy="347472"/>
          </a:xfrm>
          <a:prstGeom prst="roundRect">
            <a:avLst>
              <a:gd name="adj" fmla="val 20000"/>
            </a:avLst>
          </a:prstGeom>
          <a:solidFill>
            <a:srgbClr val="D95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Paradoja de Tasas y Volatilidad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2414015"/>
            <a:ext cx="338328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Nulidad en Tasas (Δ% PBI): </a:t>
            </a:r>
            <a:r>
              <a:rPr sz="1100">
                <a:solidFill>
                  <a:srgbClr val="19202A"/>
                </a:solidFill>
                <a:latin typeface="Segoe UI"/>
              </a:rPr>
              <a:t>En tasas anuales (M1–M4), las interacciones COVID × Cluster lucen nulas (p ∈ [0.20, 0.91]).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Régimen de Volatilidad: </a:t>
            </a:r>
            <a:r>
              <a:rPr sz="1100">
                <a:solidFill>
                  <a:srgbClr val="19202A"/>
                </a:solidFill>
                <a:latin typeface="Segoe UI"/>
              </a:rPr>
              <a:t>Minero/Enclave exhibe una desviación estándar 4.4× mayor (σ = 20.5% vs. 4.7%; Levene p = 0.0083).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Hito Las Bambas: </a:t>
            </a:r>
            <a:r>
              <a:rPr sz="1100">
                <a:solidFill>
                  <a:srgbClr val="19202A"/>
                </a:solidFill>
                <a:latin typeface="Segoe UI"/>
              </a:rPr>
              <a:t>Apurímac 2016 (+141.2%) infla la varianza; al aislarlo (M4), el R² within casi se duplica (0.138 → 0.262).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176272"/>
            <a:ext cx="3639312" cy="3977639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93608" y="2029967"/>
            <a:ext cx="3310128" cy="347472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Efecto Cicatriz (PBI 2019=100)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414015"/>
            <a:ext cx="3383280" cy="3666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Resolución en Niveles (M5): </a:t>
            </a:r>
            <a:r>
              <a:rPr sz="1100">
                <a:solidFill>
                  <a:srgbClr val="19202A"/>
                </a:solidFill>
                <a:latin typeface="Segoe UI"/>
              </a:rPr>
              <a:t>Al modelar el índice real PBI (2019=100), el R² within sube a 0.3554 y el test F es p &lt; 0.0001.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Caída Adicional 2020: </a:t>
            </a:r>
            <a:r>
              <a:rPr sz="1100">
                <a:solidFill>
                  <a:srgbClr val="19202A"/>
                </a:solidFill>
                <a:latin typeface="Segoe UI"/>
              </a:rPr>
              <a:t>Minero/Enclave sufrió un retroceso extra de -6.57 pts en 2020 (p = 0.0495).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Cicatriz Persistente (2021–23): </a:t>
            </a:r>
            <a:r>
              <a:rPr sz="1100">
                <a:solidFill>
                  <a:srgbClr val="19202A"/>
                </a:solidFill>
                <a:latin typeface="Segoe UI"/>
              </a:rPr>
              <a:t>Rezago altamente significativo de -10.92 pts (p = 0.0029), permaneciendo bajo su nivel pre-pandemia (96.0 vs. 103–107).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Arquitectura de Datos y Gobernanza Temporal (INEI 2007–2024)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3/14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5486400" cy="406908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0B1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813816"/>
            <a:ext cx="5157216" cy="347472"/>
          </a:xfrm>
          <a:prstGeom prst="roundRect">
            <a:avLst>
              <a:gd name="adj" fmla="val 20000"/>
            </a:avLst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Consolidación y Alcance Muestral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197864"/>
            <a:ext cx="5230368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Fuente Oficial: </a:t>
            </a:r>
            <a:r>
              <a:rPr sz="1100">
                <a:solidFill>
                  <a:srgbClr val="19202A"/>
                </a:solidFill>
                <a:latin typeface="Segoe UI"/>
              </a:rPr>
              <a:t>24 libros departamentales INEI (PBI por actividad a precios constantes de 2007).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Exclusiones Documentadas: </a:t>
            </a:r>
            <a:r>
              <a:rPr sz="1100">
                <a:solidFill>
                  <a:srgbClr val="19202A"/>
                </a:solidFill>
                <a:latin typeface="Segoe UI"/>
              </a:rPr>
              <a:t>• Moquegua 2008–2011: sin desagregación homogénea para manufactura/construcción.
• Año 2024: preliminar, se reserva fuera de estimación.
• Ventana efectiva: 2008–2023 (380 obs; 23 dptos × 16 años + Moquegua × 12 años).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12 Sectores VAB (100%): </a:t>
            </a:r>
            <a:r>
              <a:rPr sz="1100">
                <a:solidFill>
                  <a:srgbClr val="19202A"/>
                </a:solidFill>
                <a:latin typeface="Segoe UI"/>
              </a:rPr>
              <a:t>Agricultura, Pesca, Minería, Manufactura, Electricidad, Construcción, Comercio, Transporte, Alojamiento, Telecom., Adm. Pública y Otros Servicios.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960120"/>
            <a:ext cx="5605272" cy="406908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813816"/>
            <a:ext cx="5276088" cy="347472"/>
          </a:xfrm>
          <a:prstGeom prst="roundRect">
            <a:avLst>
              <a:gd name="adj" fmla="val 20000"/>
            </a:avLst>
          </a:prstGeom>
          <a:solidFill>
            <a:srgbClr val="007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Separación Estricta de Ventanas Temporales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1197864"/>
            <a:ext cx="5349240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1. Ventana Pre-Pandemia (2015–2019) → Clustering: </a:t>
            </a:r>
            <a:r>
              <a:rPr sz="1100">
                <a:solidFill>
                  <a:srgbClr val="19202A"/>
                </a:solidFill>
                <a:latin typeface="Segoe UI"/>
              </a:rPr>
              <a:t>Se promedia la participación sectorial 2015–2019 de cada departamento. Garantiza exogeneidad estructural frente al shock COVID-19.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2. Panel Histórico (2008–2023) → Tasas y Volatilidad: </a:t>
            </a:r>
            <a:r>
              <a:rPr sz="1100">
                <a:solidFill>
                  <a:srgbClr val="19202A"/>
                </a:solidFill>
                <a:latin typeface="Segoe UI"/>
              </a:rPr>
              <a:t>Evalúa el crecimiento anual (var_pib), volatilidad estructural (Levene / Fligner-Killeen) y el shock de oferta de Las Bambas (2016).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3. Panel Balanceado (2017–2023) → Nivel Indexado: </a:t>
            </a:r>
            <a:r>
              <a:rPr sz="1100">
                <a:solidFill>
                  <a:srgbClr val="19202A"/>
                </a:solidFill>
                <a:latin typeface="Segoe UI"/>
              </a:rPr>
              <a:t>Evalúa la trayectoria acumulada PBI (2019=100) (N=24, T=7, 168 obs) para cuantificar el Efecto Cicatriz sin distorsión por efecto 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193792"/>
            <a:ext cx="11365992" cy="1051560"/>
          </a:xfrm>
          <a:prstGeom prst="roundRect">
            <a:avLst>
              <a:gd name="adj" fmla="val 3000"/>
            </a:avLst>
          </a:prstGeom>
          <a:solidFill>
            <a:srgbClr val="EEF8F6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" y="5266944"/>
            <a:ext cx="1110996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0B1C3D"/>
                </a:solidFill>
                <a:latin typeface="Segoe UI"/>
              </a:rPr>
              <a:t>Principio de Identificación Econométrica: </a:t>
            </a:r>
            <a:r>
              <a:rPr sz="1150">
                <a:solidFill>
                  <a:srgbClr val="19202A"/>
                </a:solidFill>
                <a:latin typeface="Segoe UI"/>
              </a:rPr>
              <a:t>Clasificar unidades usando datos post-2020 induciría sesgo de selección sobre la variable dependiente. Fijar la tipología en 2015–2019 asegura que el cluster y los predictores continuos (Minería_z, PC1_z) actúen como condiciones iniciales pre-determinadas.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Geometría del Simplex: Transformación CLR y PCA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4/14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60120"/>
            <a:ext cx="5394960" cy="525780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0B1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813816"/>
            <a:ext cx="5065776" cy="347472"/>
          </a:xfrm>
          <a:prstGeom prst="roundRect">
            <a:avLst>
              <a:gd name="adj" fmla="val 20000"/>
            </a:avLst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Fundamento Composicional (CoDa)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197864"/>
            <a:ext cx="5138928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1. Cierre Composicional (S^D): </a:t>
            </a:r>
            <a:r>
              <a:rPr sz="1100">
                <a:solidFill>
                  <a:srgbClr val="19202A"/>
                </a:solidFill>
                <a:latin typeface="Segoe UI"/>
              </a:rPr>
              <a:t>Las participaciones sectoriales son positivas y suman 100%, induciendo correlaciones negativas espurias en el espacio euclidiano crudo.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2. Reemplazo Multiplicativo (Martín-Fernández et al., 2003): </a:t>
            </a:r>
            <a:r>
              <a:rPr sz="1100">
                <a:solidFill>
                  <a:srgbClr val="19202A"/>
                </a:solidFill>
                <a:latin typeface="Segoe UI"/>
              </a:rPr>
              <a:t>Lambayeque y San Martín registran 0.00% en minería (2015–19). Se imputa δ = 0.05% y se reescalan los sectores positivos: x_ij* = x_ij · (1 - z_i·δ/100).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3. Coordenadas Log-Ratio Centradas (CLR): </a:t>
            </a:r>
            <a:r>
              <a:rPr sz="1100">
                <a:solidFill>
                  <a:srgbClr val="19202A"/>
                </a:solidFill>
                <a:latin typeface="Segoe UI"/>
              </a:rPr>
              <a:t>clr(x_i*) = [ ln(x_i1* / g_i), ..., ln(x_iD* / g_i) ], donde g_i es la media geométrica departamental.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Equivalencia ILR: </a:t>
            </a:r>
            <a:r>
              <a:rPr sz="1100">
                <a:solidFill>
                  <a:srgbClr val="19202A"/>
                </a:solidFill>
                <a:latin typeface="Segoe UI"/>
              </a:rPr>
              <a:t>La proyección ortonormal ILR (Helmert D × (D-1)) preserva exactamente las distancias de Aitchison y produce los mismos valores singulares que CLR.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89320" y="960120"/>
          <a:ext cx="578815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752"/>
                <a:gridCol w="1051560"/>
                <a:gridCol w="1051560"/>
                <a:gridCol w="1097280"/>
              </a:tblGrid>
              <a:tr h="4368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Sector / Métrica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PC1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PC2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PC3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Varianza Explicada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51.65%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20.02%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15.71%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Varianza Acumulada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51.65%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71.68%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87.39%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Extracción Minera e Hidroc.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+0.906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+0.137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-0.241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Electricidad, Gas y Agua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+0.145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-0.289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+0.825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Agricultura y Ganadería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-0.373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Manufactura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-0.152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+0.630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+0.212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Comercio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-0.181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+0.016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-0.216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Telecom. y Serv. Info.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-0.202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+0.217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-0.149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989320" y="5074920"/>
            <a:ext cx="5788152" cy="1143000"/>
          </a:xfrm>
          <a:prstGeom prst="roundRect">
            <a:avLst>
              <a:gd name="adj" fmla="val 3000"/>
            </a:avLst>
          </a:prstGeom>
          <a:solidFill>
            <a:srgbClr val="E8F4FA"/>
          </a:solidFill>
          <a:ln w="15875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17336" y="5148072"/>
            <a:ext cx="5532120" cy="9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Interpretación Económica de los Ejes: </a:t>
            </a:r>
            <a:r>
              <a:rPr sz="1100">
                <a:solidFill>
                  <a:srgbClr val="19202A"/>
                </a:solidFill>
                <a:latin typeface="Segoe UI"/>
              </a:rPr>
              <a:t>PC1 (51.65%) es un factor puro de intensidad extractiva minera (+0.906). PC2 (20.02%) separa economías urbano-industriales (+0.630) de economías agropecuarias (-0.542).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Validación Multi-Algoritmo y Estabilidad Bootstrap (K=2 vs. K=4)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5/14</a:t>
            </a:r>
          </a:p>
        </p:txBody>
      </p:sp>
      <p:pic>
        <p:nvPicPr>
          <p:cNvPr id="7" name="Picture 6" descr="fig2_validacion_clust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0"/>
            <a:ext cx="7040880" cy="289718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960120"/>
          <a:ext cx="41879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731520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Algoritmo / Espacio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K=2 Sil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K=4 Sil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K=4 Jacc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Ward (CLR + PCA 2D)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0.498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0.407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K-Means (CLR + PCA 2D)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0.498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0.407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0.877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PAM / K-Medoids (PCA 2D)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0.498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0.388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GMM (CLR + PCA 2D)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0.498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0.338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0.768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Ward (CLR 12D completo)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0.354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0.244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3886200"/>
            <a:ext cx="4187952" cy="233172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1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54112" y="3739896"/>
            <a:ext cx="3858768" cy="347472"/>
          </a:xfrm>
          <a:prstGeom prst="roundRect">
            <a:avLst>
              <a:gd name="adj" fmla="val 20000"/>
            </a:avLst>
          </a:prstGeom>
          <a:solidFill>
            <a:srgbClr val="1D4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Decisión Metodológica 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7536" y="4123944"/>
            <a:ext cx="3931920" cy="202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Convergencia Exacta: </a:t>
            </a:r>
            <a:r>
              <a:rPr sz="1050">
                <a:solidFill>
                  <a:srgbClr val="19202A"/>
                </a:solidFill>
                <a:latin typeface="Segoe UI"/>
              </a:rPr>
              <a:t>En K=4, Ward y K-Means producen exactamente la misma partición de los 24 departamentos.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Máxima Estabilidad: </a:t>
            </a:r>
            <a:r>
              <a:rPr sz="1050">
                <a:solidFill>
                  <a:srgbClr val="19202A"/>
                </a:solidFill>
                <a:latin typeface="Segoe UI"/>
              </a:rPr>
              <a:t>K=4 alcanza un máximo local en Gap (0.231) y estabilidad Bootstrap de 85.0% (Ward) y 87.7% (K-Means).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Doble Nivel: </a:t>
            </a:r>
            <a:r>
              <a:rPr sz="1050">
                <a:solidFill>
                  <a:srgbClr val="19202A"/>
                </a:solidFill>
                <a:latin typeface="Segoe UI"/>
              </a:rPr>
              <a:t>K=4 captura la heterogeneidad fina y K=2 (Macro Minero vs. Diversificado) aporta potencia estadística.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Mapa Estructural en el Espacio de Aitchison (71.68% Varianza)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6/14</a:t>
            </a:r>
          </a:p>
        </p:txBody>
      </p:sp>
      <p:pic>
        <p:nvPicPr>
          <p:cNvPr id="7" name="Picture 6" descr="fig1_pca_biplot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96112"/>
            <a:ext cx="6995160" cy="40496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960120"/>
            <a:ext cx="4233672" cy="384048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0B1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08392" y="813816"/>
            <a:ext cx="3904487" cy="347472"/>
          </a:xfrm>
          <a:prstGeom prst="roundRect">
            <a:avLst>
              <a:gd name="adj" fmla="val 20000"/>
            </a:avLst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Lectura Espacial de los 4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1816" y="1197864"/>
            <a:ext cx="3977639" cy="3529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1. Minero / Enclave (N=3, Naranja): </a:t>
            </a:r>
            <a:r>
              <a:rPr sz="1050">
                <a:solidFill>
                  <a:srgbClr val="19202A"/>
                </a:solidFill>
                <a:latin typeface="Segoe UI"/>
              </a:rPr>
              <a:t>Apurímac, Huancavelica y Pasco. Extrema dependencia extractiva (+PC1) y baja articulación manufacturera (-PC2).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2. Minero / Diversificado (N=7, Azul): </a:t>
            </a:r>
            <a:r>
              <a:rPr sz="1050">
                <a:solidFill>
                  <a:srgbClr val="19202A"/>
                </a:solidFill>
                <a:latin typeface="Segoe UI"/>
              </a:rPr>
              <a:t>Arequipa, Cusco, Junín, Madre de Dios, Moquegua, Tacna y Áncash. Base minera alta combinada con industria y servicios.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3. Servicios / Manufactura (N=11, Celeste): </a:t>
            </a:r>
            <a:r>
              <a:rPr sz="1050">
                <a:solidFill>
                  <a:srgbClr val="19202A"/>
                </a:solidFill>
                <a:latin typeface="Segoe UI"/>
              </a:rPr>
              <a:t>Ica, La Libertad, Piura, Puno, Cajamarca, Ayacucho, Loreto, Ucayali, Huánuco, Tumbes, Amazonas.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4. Diversificado / Agro (N=3, Verde): </a:t>
            </a:r>
            <a:r>
              <a:rPr sz="1050">
                <a:solidFill>
                  <a:srgbClr val="19202A"/>
                </a:solidFill>
                <a:latin typeface="Segoe UI"/>
              </a:rPr>
              <a:t>Lima, Lambayeque y San Martín. Mínima o nula minería (-PC1).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956048"/>
            <a:ext cx="4233672" cy="1280160"/>
          </a:xfrm>
          <a:prstGeom prst="roundRect">
            <a:avLst>
              <a:gd name="adj" fmla="val 3000"/>
            </a:avLst>
          </a:prstGeom>
          <a:solidFill>
            <a:srgbClr val="EEF8F6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5029200"/>
            <a:ext cx="3977639" cy="113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Anidamiento Jerárquico Exacto: </a:t>
            </a:r>
            <a:r>
              <a:rPr sz="1050">
                <a:solidFill>
                  <a:srgbClr val="19202A"/>
                </a:solidFill>
                <a:latin typeface="Segoe UI"/>
              </a:rPr>
              <a:t>C1 ∪ C2 conforman el Macro-Cluster Minero (N=10, PC1 &gt; 0), mientras que C3 ∪ C4 integran el Macro-Cluster Diversificado (N=14, PC1 &lt; 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Jerarquía de Ward y Especialización Sectorial por Tipología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7/14</a:t>
            </a:r>
          </a:p>
        </p:txBody>
      </p:sp>
      <p:pic>
        <p:nvPicPr>
          <p:cNvPr id="7" name="Picture 6" descr="fig3_dendrograma_per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68680"/>
            <a:ext cx="11247120" cy="478079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4617720"/>
          <a:ext cx="113659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640080"/>
                <a:gridCol w="1188720"/>
                <a:gridCol w="1188720"/>
                <a:gridCol w="1188720"/>
                <a:gridCol w="1280160"/>
                <a:gridCol w="1764792"/>
              </a:tblGrid>
              <a:tr h="3383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Cluster Productivo (K=4)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Macro (K=2)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Minería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Manuf.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Agro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Comercio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HHI (15–19)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1. Minero/Enclave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Macro Minero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41.9%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0.249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2. Minero/Diversificado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Macro Minero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37.4%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12.2%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5.1%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7.9%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0.219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3. Servicios/Manufactura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Macro Diversif.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4. Diversificado/Agro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Macro Diversif.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11.7%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11.8%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0.161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El Puzzle de las Tasas Anuales (Δ% PBI): Modelos FE 2008–2023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8/14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96112"/>
            <a:ext cx="11365992" cy="749808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1D4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969264"/>
            <a:ext cx="1110996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Especificación Base en Tasas (M1–M4): </a:t>
            </a:r>
            <a:r>
              <a:rPr sz="1100">
                <a:solidFill>
                  <a:srgbClr val="19202A"/>
                </a:solidFill>
                <a:latin typeface="Segoe UI"/>
              </a:rPr>
              <a:t>Δ% PBI_it = α_i + β_0·Shock2020_t + Σ γ_c·(Shock2020_t × Cluster_ic) + Σ δ_c·(Recup21_23_t × Cluster_ic) + ε_it   (Errores estándar agrupados por departamento)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755648"/>
          <a:ext cx="1136599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392"/>
                <a:gridCol w="2057400"/>
                <a:gridCol w="2057400"/>
                <a:gridCol w="2057400"/>
                <a:gridCol w="2057400"/>
              </a:tblGrid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Parámetro / Estadístico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M1: Base K=4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M2: Macro K=2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M3: Continuo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M4: Sin Apurímac 16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Shock COVID 2020 (Base)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**-14.41*** (0.81)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**-11.27*** (1.39)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**-12.50*** (1.13)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**-14.41*** (0.81)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2020 × Minero/Enclave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+1.23 (2.11)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+4.34 (3.37)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2020 × Minero/Diversificado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-0.65 (3.27)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-0.65 (3.27)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2020 × Serv./Manufactura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+4.01 (2.06)*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+4.01 (2.06)*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2020 × Macro Minero / Minería_z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-2.98 (2.78)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-1.72 (1.37)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Recup 21–23 × Minero/Enclave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-6.23 (6.84)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-3.12 (1.84)*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Observaciones / Departamentos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380 /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380 /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380 /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379 /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R² within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0.1381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0.1277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0.1278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0.2623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Test F Poolability (p-valor)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0.97 (p=0.500)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1.02 (p=0.440)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1.02 (p=0.443)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0.75 (p=0.795)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11480" y="5230368"/>
            <a:ext cx="11365992" cy="1078992"/>
          </a:xfrm>
          <a:prstGeom prst="roundRect">
            <a:avLst>
              <a:gd name="adj" fmla="val 3000"/>
            </a:avLst>
          </a:prstGeom>
          <a:solidFill>
            <a:srgbClr val="FDF2EE"/>
          </a:solidFill>
          <a:ln w="15875">
            <a:solidFill>
              <a:srgbClr val="D95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5303520"/>
            <a:ext cx="11109960" cy="932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¿Por qué las interacciones lucen nulas en M1–M3? </a:t>
            </a:r>
            <a:r>
              <a:rPr sz="1050">
                <a:solidFill>
                  <a:srgbClr val="19202A"/>
                </a:solidFill>
                <a:latin typeface="Segoe UI"/>
              </a:rPr>
              <a:t>(1) El confinamiento nacional de Q2-2020 paralizó simultáneamente todos los sectores (-11% a -14%); (2) el salto de oferta de Apurímac en 2016 (+141.2% por Las Bambas) distorsiona la media pre-pandemia y reduce el R² within a la mitad (al excluir esa sola celda en M4, el R² within salta de 0.138 a 0.262); (3) la tasa anual sufre ilusión de rebote por efecto 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Heterocedasticidad Estructural y el Shock de Oferta de Las Bambas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9/14</a:t>
            </a:r>
          </a:p>
        </p:txBody>
      </p:sp>
      <p:pic>
        <p:nvPicPr>
          <p:cNvPr id="7" name="Picture 6" descr="fig4_volatilidad_estruct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0"/>
            <a:ext cx="7086600" cy="28441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960120"/>
          <a:ext cx="414223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658368"/>
                <a:gridCol w="658368"/>
                <a:gridCol w="621792"/>
                <a:gridCol w="877824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Cluster (K=4)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Media Δ%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SD (σ)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IQR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Mín / Máx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1. Minero/Enclave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+5.41%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20.46%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5.54%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-16.1% / **+141.2%**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2. Minero/Diversif.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+2.98%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8.01%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6.27%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-19.5% / +29.3%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3. Serv./Manuf.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+3.24%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5.91%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5.83%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-18.1% / +19.5%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4. Diversif./Agro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+4.20%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4.65%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4.35%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-12.9% / +14.8%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3520440"/>
            <a:ext cx="4142232" cy="269748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D95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99831" y="3374136"/>
            <a:ext cx="3813048" cy="347472"/>
          </a:xfrm>
          <a:prstGeom prst="roundRect">
            <a:avLst>
              <a:gd name="adj" fmla="val 20000"/>
            </a:avLst>
          </a:prstGeom>
          <a:solidFill>
            <a:srgbClr val="D95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Pruebas de Homogeneidad de Varianza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3256" y="3758184"/>
            <a:ext cx="3886200" cy="2386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B1C3D"/>
                </a:solidFill>
                <a:latin typeface="Segoe UI"/>
              </a:rPr>
              <a:t>Test de Levene (centrado en mediana): </a:t>
            </a:r>
            <a:r>
              <a:rPr sz="1000">
                <a:solidFill>
                  <a:srgbClr val="19202A"/>
                </a:solidFill>
                <a:latin typeface="Segoe UI"/>
              </a:rPr>
              <a:t>F = 3.972, p = 0.0083. Rechaza homocedasticidad entre clusters al 1%.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0B1C3D"/>
                </a:solidFill>
                <a:latin typeface="Segoe UI"/>
              </a:rPr>
              <a:t>Test de Fligner-Killeen (no paramétrico): </a:t>
            </a:r>
            <a:r>
              <a:rPr sz="1000">
                <a:solidFill>
                  <a:srgbClr val="19202A"/>
                </a:solidFill>
                <a:latin typeface="Segoe UI"/>
              </a:rPr>
              <a:t>χ² = 17.540, p = 0.0005. Confirma regímenes de volatilidad distintos.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0B1C3D"/>
                </a:solidFill>
                <a:latin typeface="Segoe UI"/>
              </a:rPr>
              <a:t>Implicancia Metodológica: </a:t>
            </a:r>
            <a:r>
              <a:rPr sz="1000">
                <a:solidFill>
                  <a:srgbClr val="19202A"/>
                </a:solidFill>
                <a:latin typeface="Segoe UI"/>
              </a:rPr>
              <a:t>En enclaves mineros, los mega-proyectos discretos dominan la varianza anual; para medir la recuperación post-COVID debemos pasar de tasas Δ% a niveles acumulados PBI (2019=100).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El Efecto Cicatriz: Trayectoria del PBI Real Indexado (2019 = 100)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10/14</a:t>
            </a:r>
          </a:p>
        </p:txBody>
      </p:sp>
      <p:pic>
        <p:nvPicPr>
          <p:cNvPr id="7" name="Picture 6" descr="fig5_trayectoria_pib_index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96112"/>
            <a:ext cx="7086600" cy="365420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960120"/>
          <a:ext cx="414223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457200"/>
                <a:gridCol w="457200"/>
                <a:gridCol w="457200"/>
                <a:gridCol w="457200"/>
                <a:gridCol w="457200"/>
                <a:gridCol w="548640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Cluster (K=4)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2019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2020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Prom 21–23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Minero/Enclave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86.8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95.9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94.6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97.6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96.0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Minero/Diversif.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100.0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85.0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100.5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105.0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101.2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Serv./Manuf.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89.6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102.3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Diversif./Agro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100.0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85.6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101.9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106.0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106.6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104.8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3520440"/>
            <a:ext cx="4142232" cy="269748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99831" y="3374136"/>
            <a:ext cx="3813048" cy="347472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Divergencia Post-Pandemia (2021–2023)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3256" y="3758184"/>
            <a:ext cx="3886200" cy="2386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B1C3D"/>
                </a:solidFill>
                <a:latin typeface="Segoe UI"/>
              </a:rPr>
              <a:t>Resolución del Efecto Base: </a:t>
            </a:r>
            <a:r>
              <a:rPr sz="1000">
                <a:solidFill>
                  <a:srgbClr val="19202A"/>
                </a:solidFill>
                <a:latin typeface="Segoe UI"/>
              </a:rPr>
              <a:t>El índice PBI_it (2019=100) mide la brecha real respecto al producto pre-pandemia.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0B1C3D"/>
                </a:solidFill>
                <a:latin typeface="Segoe UI"/>
              </a:rPr>
              <a:t>Cicatriz en Enclaves Mineros: </a:t>
            </a:r>
            <a:r>
              <a:rPr sz="1000">
                <a:solidFill>
                  <a:srgbClr val="19202A"/>
                </a:solidFill>
                <a:latin typeface="Segoe UI"/>
              </a:rPr>
              <a:t>Mientras Diversificado/Agro alcanzó 106.6 en 2023, Minero/Enclave permaneció estancado bajo 100 durante todo el trienio 2021–2023 (95.9 → 94.6 → 97.6).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0B1C3D"/>
                </a:solidFill>
                <a:latin typeface="Segoe UI"/>
              </a:rPr>
              <a:t>Brecha Acumulada: </a:t>
            </a:r>
            <a:r>
              <a:rPr sz="1000">
                <a:solidFill>
                  <a:srgbClr val="19202A"/>
                </a:solidFill>
                <a:latin typeface="Segoe UI"/>
              </a:rPr>
              <a:t>-8.8 puntos índice debajo de Diversificado/Agro en el promedio 2021–2023.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Evidencia Econométrica del Efecto Cicatriz: Modelos M5 y M6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11/14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14400"/>
          <a:ext cx="1136599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3672"/>
                <a:gridCol w="3566160"/>
                <a:gridCol w="3566160"/>
              </a:tblGrid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Variable / Estadístico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M5: Clusters K=4 (PBI 2019=100)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M6: Continuo Minería_z (PBI 2019=100)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Shock COVID 2020 (Base: Diversif./Agro)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**-11.17*** (2.23) [p &lt; 0.0001]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**-12.50*** (0.98) [p &lt; 0.0001]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Recuperación 2021–2023 (Base: Diversif./Agro)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**+8.06*** (2.49) [p = 0.0015]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**+3.72*** (1.03) [p = 0.0004]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2020 × Minero/Enclave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-6.57** (3.31) [p = 0.0495]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2020 × Minero/Diversificado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-3.43 (3.00) [p = 0.2554]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2020 × Servicios/Manufactura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+3.10 (2.51) [p = 0.2193]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Recup 2021–2023 × Minero/Enclave (Cicatriz)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D95F26"/>
                          </a:solidFill>
                          <a:latin typeface="Segoe UI"/>
                        </a:defRPr>
                      </a:pPr>
                      <a:r>
                        <a:t>-10.92*** (3.60) [p = 0.0029]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Recup 2021–2023 × Minero/Diversificado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-5.77* (3.11) [p = 0.0660]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Recup 2021–2023 × Servicios/Manufactura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-3.99 (2.77) [p = 0.1516]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2020 × Minería_z (1 SD = +16.4 pp minería)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-2.39* (1.40) [p = 0.0891]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Recup 2021–2023 × Minería_z (Cicatriz continua)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-2.76* (1.54) [p = 0.0747]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Observaciones / R² within / Test F Poolability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168 / 0.3554 / F = 3.14 (p &lt; 0.0001)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168 / 0.3125 / F = 2.97 (p &lt; 0.0001)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230368"/>
            <a:ext cx="11365992" cy="1051560"/>
          </a:xfrm>
          <a:prstGeom prst="roundRect">
            <a:avLst>
              <a:gd name="adj" fmla="val 3000"/>
            </a:avLst>
          </a:prstGeom>
          <a:solidFill>
            <a:srgbClr val="EEF8F6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5303520"/>
            <a:ext cx="1110996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Hallazgo Central (M5 y M6): </a:t>
            </a:r>
            <a:r>
              <a:rPr sz="1100">
                <a:solidFill>
                  <a:srgbClr val="19202A"/>
                </a:solidFill>
                <a:latin typeface="Segoe UI"/>
              </a:rPr>
              <a:t>Controlando por efectos fijos departamentales, pertenecer a Minero/Enclave implicó una caída adicional de -6.57 pts en 2020 (p = 0.0495) y una pérdida estructural de recuperación de -10.92 pts en 2021–2023 (t = -3.03, p = 0.0029). En especificación continua (M6), +1 SD en minería pre-COVID reduce el nivel post-pandemia en -2.76 pts (p = 0.0747).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Síntesis Econométrica: Tasas Anuales vs. Nivel Indexado (IC 95%)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12/14</a:t>
            </a:r>
          </a:p>
        </p:txBody>
      </p:sp>
      <p:pic>
        <p:nvPicPr>
          <p:cNvPr id="7" name="Picture 6" descr="fig6_forest_plot_mode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96112"/>
            <a:ext cx="7132320" cy="30242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960120"/>
            <a:ext cx="4096512" cy="525780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0B1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45552" y="813816"/>
            <a:ext cx="3767328" cy="347472"/>
          </a:xfrm>
          <a:prstGeom prst="roundRect">
            <a:avLst>
              <a:gd name="adj" fmla="val 20000"/>
            </a:avLst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Contraste de Especificaciones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976" y="1197864"/>
            <a:ext cx="3840480" cy="494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Panel Izquierdo (Tasas Δ% PBI, M1 y M4): </a:t>
            </a:r>
            <a:r>
              <a:rPr sz="1050">
                <a:solidFill>
                  <a:srgbClr val="19202A"/>
                </a:solidFill>
                <a:latin typeface="Segoe UI"/>
              </a:rPr>
              <a:t>• En M1 (círculos grises), el intervalo de confianza de Minero/Enclave en 2021–2023 es sumamente ancho debido al outlier de Apurímac 2016.
• Al aislar Apurímac 2016 en M4 (diamantes azules), el error estándar se reduce en 73% (de 6.84 a 1.84) y el rezago de recuperación ya apunta a -3.12 pp (p = 0.091).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0B1C3D"/>
                </a:solidFill>
                <a:latin typeface="Segoe UI"/>
              </a:rPr>
              <a:t>Panel Derecho (Nivel PBI 2019=100, M5 y M6): </a:t>
            </a:r>
            <a:r>
              <a:rPr sz="1050">
                <a:solidFill>
                  <a:srgbClr val="19202A"/>
                </a:solidFill>
                <a:latin typeface="Segoe UI"/>
              </a:rPr>
              <a:t>• En M5, el Efecto Cicatriz sobre Minero/Enclave (-10.92 pts, p = 0.0029) se separa con nitidez de cero.
• El ordenamiento monotónico confirma que la cicatriz post-COVID es proporcional a la dependencia extractiva de enclave.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Conclusiones e Implicancias de Política Regional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13/14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987552"/>
            <a:ext cx="5532120" cy="521208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0B1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841248"/>
            <a:ext cx="5202936" cy="347472"/>
          </a:xfrm>
          <a:prstGeom prst="roundRect">
            <a:avLst>
              <a:gd name="adj" fmla="val 20000"/>
            </a:avLst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Lecciones Metodológicas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225296"/>
            <a:ext cx="5276088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Geometría de Aitchison Obligatoria: </a:t>
            </a:r>
            <a:r>
              <a:rPr sz="1100">
                <a:solidFill>
                  <a:srgbClr val="19202A"/>
                </a:solidFill>
                <a:latin typeface="Segoe UI"/>
              </a:rPr>
              <a:t>Aplicar PCA/clustering sobre porcentajes crudos viola la restricción del simplex. CLR + PCA 2D condensa el 71.7% de la información y genera una partición altamente estable (Jaccard = 85%–88%).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Tasas vs. Niveles Indexados: </a:t>
            </a:r>
            <a:r>
              <a:rPr sz="1100">
                <a:solidFill>
                  <a:srgbClr val="19202A"/>
                </a:solidFill>
                <a:latin typeface="Segoe UI"/>
              </a:rPr>
              <a:t>Evaluar shocks macroeconómicos únicamente con tasas anuales (Δ% PBI) oculta caídas persistentes por el efecto base y la volatilidad de oferta minera. El índice PBI (2019=100) resuelve esta limitación.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Control de Hitos Extractivos: </a:t>
            </a:r>
            <a:r>
              <a:rPr sz="1100">
                <a:solidFill>
                  <a:srgbClr val="19202A"/>
                </a:solidFill>
                <a:latin typeface="Segoe UI"/>
              </a:rPr>
              <a:t>En paneles regionales peruanos es indispensable modelar la entrada de mega-proyectos (Las Bambas 2016) para evitar que dominen los efectos fijos.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987552"/>
            <a:ext cx="5605272" cy="5212080"/>
          </a:xfrm>
          <a:prstGeom prst="roundRect">
            <a:avLst>
              <a:gd name="adj" fmla="val 3000"/>
            </a:avLst>
          </a:prstGeom>
          <a:solidFill>
            <a:srgbClr val="F0F6FA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841248"/>
            <a:ext cx="5276088" cy="347472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Implicancias de Política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1225296"/>
            <a:ext cx="534924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Vulnerabilidad de los Enclaves Mineros: </a:t>
            </a:r>
            <a:r>
              <a:rPr sz="1100">
                <a:solidFill>
                  <a:srgbClr val="19202A"/>
                </a:solidFill>
                <a:latin typeface="Segoe UI"/>
              </a:rPr>
              <a:t>A diferencia de los departamentos mineros diversificados (Arequipa, Moquegua, Tacna —que recuperaron el índice 101.2 en 2021–2023), los enclaves puros (Apurímac, Pasco, Huancavelica) sufrieron una cicatriz de -10.92 pts.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Estabilizadores Fiscales Regionales: </a:t>
            </a:r>
            <a:r>
              <a:rPr sz="1100">
                <a:solidFill>
                  <a:srgbClr val="19202A"/>
                </a:solidFill>
                <a:latin typeface="Segoe UI"/>
              </a:rPr>
              <a:t>La volatilidad 4.4× superior del cluster Minero/Enclave exige reglas de estabilización plurianual del Canon Minero.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B1C3D"/>
                </a:solidFill>
                <a:latin typeface="Segoe UI"/>
              </a:rPr>
              <a:t>Diversificación Productiva: </a:t>
            </a:r>
            <a:r>
              <a:rPr sz="1100">
                <a:solidFill>
                  <a:srgbClr val="19202A"/>
                </a:solidFill>
                <a:latin typeface="Segoe UI"/>
              </a:rPr>
              <a:t>La presencia de encadenamientos manufactureros y de servicios (Cluster 2 vs. Cluster 1) amortiguó la mitad de la cicatriz post-pandemia.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/>
          <a:lstStyle/>
          <a:p>
            <a:pPr algn="ctr">
              <a:defRPr sz="2100" b="1">
                <a:solidFill>
                  <a:srgbClr val="FFFFFF"/>
                </a:solidFill>
                <a:latin typeface="Segoe UI"/>
              </a:defRPr>
            </a:pPr>
            <a:r>
              <a:t>Arquitectura Reproducible del Proyecto (Repositorio Git)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446520"/>
            <a:ext cx="11460175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D4273"/>
                </a:solidFill>
                <a:latin typeface="Segoe UI"/>
              </a:defRPr>
            </a:pPr>
            <a:r>
              <a:t>CCDE – Estructura Productiva Regional y Cicatriz COVID-19</a:t>
            </a:r>
          </a:p>
        </p:txBody>
      </p:sp>
      <p:pic>
        <p:nvPicPr>
          <p:cNvPr id="5" name="Picture 4" descr="ccde-logo-pos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473952"/>
            <a:ext cx="350877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89920" y="647395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0B1C3D"/>
                </a:solidFill>
                <a:latin typeface="Segoe UI"/>
              </a:defRPr>
            </a:pPr>
            <a:r>
              <a:t>14/14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60120"/>
          <a:ext cx="1136599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663440"/>
                <a:gridCol w="3410712"/>
              </a:tblGrid>
              <a:tr h="53557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Módulo / Archivo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 en el Pipeline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Outputs Verificados</a:t>
                      </a:r>
                    </a:p>
                  </a:txBody>
                  <a:tcPr anchor="ctr">
                    <a:solidFill>
                      <a:srgbClr val="0B1C3D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src/generador-df.py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ETL desde los 24 libros Excel INEI (data/raw/).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pbi_departamental_consolidado.xlsx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src/clustering_paso1.py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Reemplazo multiplicativo, CLR/ILR, PCA y benchmark.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Metricas_Validacion_Clustering.xlsx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src/generar_analisis_completo.py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Pipeline integral: CoDa, Levene, Panel FE M1–M6 y figuras.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panel_econometrico_final.xlsx + 6 figuras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src/modelo-clusters.ipynb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Notebook ejecutado de análisis composicional y clustering.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Celdas ejecutadas + figuras integradas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src/modelo-econometrico.ipynb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Notebook ejecutado con progresión M1–M6 y tests.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Tablas comparativas + diagnóstico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**presentacion/** (.tex / .pdf / .pptx)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Presentación empírica en plantilla visual CCDE.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9202A"/>
                          </a:solidFill>
                          <a:latin typeface="Segoe UI"/>
                        </a:defRPr>
                      </a:pPr>
                      <a:r>
                        <a:t>PDF Beamer (14 slides) + PPTX editable</a:t>
                      </a:r>
                    </a:p>
                  </a:txBody>
                  <a:tcPr anchor="ctr">
                    <a:solidFill>
                      <a:srgbClr val="F0F6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4937760"/>
            <a:ext cx="11365992" cy="1280160"/>
          </a:xfrm>
          <a:prstGeom prst="roundRect">
            <a:avLst>
              <a:gd name="adj" fmla="val 3000"/>
            </a:avLst>
          </a:prstGeom>
          <a:solidFill>
            <a:srgbClr val="E8F4FA"/>
          </a:solidFill>
          <a:ln w="15875">
            <a:solidFill>
              <a:srgbClr val="007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5010912"/>
            <a:ext cx="11109960" cy="113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0B1C3D"/>
                </a:solidFill>
                <a:latin typeface="Segoe UI"/>
              </a:rPr>
              <a:t>Estándares de Reproducibilidad CCDE: </a:t>
            </a:r>
            <a:r>
              <a:rPr sz="1150">
                <a:solidFill>
                  <a:srgbClr val="19202A"/>
                </a:solidFill>
                <a:latin typeface="Segoe UI"/>
              </a:rPr>
              <a:t>Semilla global fija (RANDOM_STATE = 0), rutas relativas multiplataforma (pathlib.Path), cero números mágicos hardcodeados y separación estricta entre datos crudos (data/raw/), bases procesadas (data/processed/), figuras vectoriales (figures/) y presentación (presentacion/).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